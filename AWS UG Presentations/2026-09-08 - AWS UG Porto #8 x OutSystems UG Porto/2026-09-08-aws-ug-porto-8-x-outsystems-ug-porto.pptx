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jpg"/><Relationship Id="rId7" Type="http://schemas.openxmlformats.org/officeDocument/2006/relationships/image" Target="../media/image6.png"/><Relationship Id="rId8"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jpg"/><Relationship Id="rId4" Type="http://schemas.openxmlformats.org/officeDocument/2006/relationships/image" Target="../media/image8.png"/><Relationship Id="rId5" Type="http://schemas.openxmlformats.org/officeDocument/2006/relationships/hyperlink" Target="https://www.meetup.com/aws-porto-user-group/"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9.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1.jp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hyperlink" Target="https://community2.cncf.io/events/details/cncf-kcd-porto-presents-kcd-porto-2026-collab-with-devops-days-portuga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forms.gle/mBZbHRNYxwsuqphm6" TargetMode="Externa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join.slack.com/t/awsusergroupportugal/shared_invite/zt-34qevs11z-fd2JqgtBt6EIv7_OoJLCVQ" TargetMode="External"/><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hyperlink" Target="https://www.meetup.com/aws-porto-user-group/" TargetMode="External"/><Relationship Id="rId7" Type="http://schemas.openxmlformats.org/officeDocument/2006/relationships/image" Target="../media/image20.png"/><Relationship Id="rId8" Type="http://schemas.openxmlformats.org/officeDocument/2006/relationships/image" Target="../media/image8.png"/><Relationship Id="rId9" Type="http://schemas.openxmlformats.org/officeDocument/2006/relationships/hyperlink" Target="https://www.linkedin.com/company/aws-user-group-porto/" TargetMode="External"/><Relationship Id="rId10" Type="http://schemas.openxmlformats.org/officeDocument/2006/relationships/image" Target="../media/image21.png"/><Relationship Id="rId11" Type="http://schemas.openxmlformats.org/officeDocument/2006/relationships/image" Target="../media/image22.png"/><Relationship Id="rId12" Type="http://schemas.openxmlformats.org/officeDocument/2006/relationships/hyperlink" Target="https://docs.google.com/forms/d/e/1FAIpQLSdO4gOTXEQ8y3-hps9zt37TY_5OEGcRjb-Q2L3Th0ESw5HA-g/viewform" TargetMode="External"/><Relationship Id="rId13" Type="http://schemas.openxmlformats.org/officeDocument/2006/relationships/image" Target="../media/image23.jpg"/><Relationship Id="rId14" Type="http://schemas.openxmlformats.org/officeDocument/2006/relationships/image" Target="../media/image2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85216" y="539496"/>
            <a:ext cx="4526280" cy="4754880"/>
          </a:xfrm>
          <a:prstGeom prst="roundRect">
            <a:avLst>
              <a:gd name="adj" fmla="val 404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02920" y="457200"/>
            <a:ext cx="4526280" cy="4754880"/>
          </a:xfrm>
          <a:prstGeom prst="roundRect">
            <a:avLst>
              <a:gd name="adj" fmla="val 4040"/>
            </a:avLst>
          </a:prstGeom>
          <a:solidFill>
            <a:srgbClr val="FFFFFF"/>
          </a:solidFill>
          <a:ln w="317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outsystems-user-groups.png"/>
          <p:cNvPicPr>
            <a:picLocks noChangeAspect="1"/>
          </p:cNvPicPr>
          <p:nvPr/>
        </p:nvPicPr>
        <p:blipFill>
          <a:blip r:embed="rId3"/>
          <a:stretch>
            <a:fillRect/>
          </a:stretch>
        </p:blipFill>
        <p:spPr>
          <a:xfrm>
            <a:off x="804672" y="789229"/>
            <a:ext cx="1210056" cy="341781"/>
          </a:xfrm>
          <a:prstGeom prst="rect">
            <a:avLst/>
          </a:prstGeom>
        </p:spPr>
      </p:pic>
      <p:pic>
        <p:nvPicPr>
          <p:cNvPr id="6" name="Picture 5" descr="va-coworking.png"/>
          <p:cNvPicPr>
            <a:picLocks noChangeAspect="1"/>
          </p:cNvPicPr>
          <p:nvPr/>
        </p:nvPicPr>
        <p:blipFill>
          <a:blip r:embed="rId4"/>
          <a:stretch>
            <a:fillRect/>
          </a:stretch>
        </p:blipFill>
        <p:spPr>
          <a:xfrm>
            <a:off x="2387122" y="658368"/>
            <a:ext cx="757874" cy="603504"/>
          </a:xfrm>
          <a:prstGeom prst="rect">
            <a:avLst/>
          </a:prstGeom>
        </p:spPr>
      </p:pic>
      <p:pic>
        <p:nvPicPr>
          <p:cNvPr id="7" name="Picture 6" descr="synvert-xgeeks.png"/>
          <p:cNvPicPr>
            <a:picLocks noChangeAspect="1"/>
          </p:cNvPicPr>
          <p:nvPr/>
        </p:nvPicPr>
        <p:blipFill>
          <a:blip r:embed="rId5"/>
          <a:stretch>
            <a:fillRect/>
          </a:stretch>
        </p:blipFill>
        <p:spPr>
          <a:xfrm>
            <a:off x="3517392" y="709149"/>
            <a:ext cx="1210056" cy="501940"/>
          </a:xfrm>
          <a:prstGeom prst="rect">
            <a:avLst/>
          </a:prstGeom>
        </p:spPr>
      </p:pic>
      <p:sp>
        <p:nvSpPr>
          <p:cNvPr id="8" name="Rectangle 7"/>
          <p:cNvSpPr/>
          <p:nvPr/>
        </p:nvSpPr>
        <p:spPr>
          <a:xfrm>
            <a:off x="502920" y="1444752"/>
            <a:ext cx="4526280" cy="3200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aws-ug-porto.jpg"/>
          <p:cNvPicPr>
            <a:picLocks noChangeAspect="1"/>
          </p:cNvPicPr>
          <p:nvPr/>
        </p:nvPicPr>
        <p:blipFill>
          <a:blip r:embed="rId6"/>
          <a:stretch>
            <a:fillRect/>
          </a:stretch>
        </p:blipFill>
        <p:spPr>
          <a:xfrm>
            <a:off x="864982" y="1691640"/>
            <a:ext cx="3802155" cy="2057400"/>
          </a:xfrm>
          <a:prstGeom prst="rect">
            <a:avLst/>
          </a:prstGeom>
        </p:spPr>
      </p:pic>
      <p:sp>
        <p:nvSpPr>
          <p:cNvPr id="10" name="TextBox 9"/>
          <p:cNvSpPr txBox="1"/>
          <p:nvPr/>
        </p:nvSpPr>
        <p:spPr>
          <a:xfrm>
            <a:off x="777240" y="3840480"/>
            <a:ext cx="4023360" cy="1280160"/>
          </a:xfrm>
          <a:prstGeom prst="rect">
            <a:avLst/>
          </a:prstGeom>
          <a:noFill/>
        </p:spPr>
        <p:txBody>
          <a:bodyPr wrap="square" lIns="0" rIns="0" tIns="0" bIns="0" anchor="t">
            <a:noAutofit/>
          </a:bodyPr>
          <a:lstStyle/>
          <a:p>
            <a:pPr algn="l">
              <a:lnSpc>
                <a:spcPct val="95000"/>
              </a:lnSpc>
            </a:pPr>
            <a:r>
              <a:rPr b="1" i="0" sz="2500">
                <a:solidFill>
                  <a:srgbClr val="000000"/>
                </a:solidFill>
                <a:latin typeface="Poppins"/>
              </a:rPr>
              <a:t>#8</a:t>
            </a:r>
          </a:p>
          <a:p>
            <a:pPr algn="l">
              <a:lnSpc>
                <a:spcPct val="95000"/>
              </a:lnSpc>
            </a:pPr>
            <a:r>
              <a:rPr b="1" i="0" sz="2500">
                <a:solidFill>
                  <a:srgbClr val="000000"/>
                </a:solidFill>
                <a:latin typeface="Poppins"/>
              </a:rPr>
              <a:t>AWS UG Porto x</a:t>
            </a:r>
          </a:p>
          <a:p>
            <a:pPr algn="l">
              <a:lnSpc>
                <a:spcPct val="95000"/>
              </a:lnSpc>
            </a:pPr>
            <a:r>
              <a:rPr b="1" i="0" sz="2500">
                <a:solidFill>
                  <a:srgbClr val="000000"/>
                </a:solidFill>
                <a:latin typeface="Poppins"/>
              </a:rPr>
              <a:t>OutSystems UG Porto</a:t>
            </a:r>
          </a:p>
        </p:txBody>
      </p:sp>
      <p:sp>
        <p:nvSpPr>
          <p:cNvPr id="11" name="Rounded Rectangle 10"/>
          <p:cNvSpPr/>
          <p:nvPr/>
        </p:nvSpPr>
        <p:spPr>
          <a:xfrm>
            <a:off x="585216" y="5522976"/>
            <a:ext cx="4526280" cy="960120"/>
          </a:xfrm>
          <a:prstGeom prst="roundRect">
            <a:avLst>
              <a:gd name="adj" fmla="val 19047"/>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02920" y="5440680"/>
            <a:ext cx="4526280" cy="960120"/>
          </a:xfrm>
          <a:prstGeom prst="roundRect">
            <a:avLst>
              <a:gd name="adj" fmla="val 19047"/>
            </a:avLst>
          </a:prstGeom>
          <a:solidFill>
            <a:srgbClr val="FFFFFF"/>
          </a:solidFill>
          <a:ln w="317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0080" y="5513832"/>
            <a:ext cx="4251960" cy="457200"/>
          </a:xfrm>
          <a:prstGeom prst="rect">
            <a:avLst/>
          </a:prstGeom>
          <a:noFill/>
        </p:spPr>
        <p:txBody>
          <a:bodyPr wrap="square" lIns="0" rIns="0" tIns="0" bIns="0" anchor="ctr">
            <a:noAutofit/>
          </a:bodyPr>
          <a:lstStyle/>
          <a:p>
            <a:pPr algn="ctr">
              <a:lnSpc>
                <a:spcPct val="100000"/>
              </a:lnSpc>
            </a:pPr>
            <a:r>
              <a:rPr b="1" i="0" sz="1900">
                <a:solidFill>
                  <a:srgbClr val="000000"/>
                </a:solidFill>
                <a:latin typeface="Poppins"/>
              </a:rPr>
              <a:t>Sep 8th  |  6:30 PM  |  Porto</a:t>
            </a:r>
          </a:p>
        </p:txBody>
      </p:sp>
      <p:sp>
        <p:nvSpPr>
          <p:cNvPr id="14" name="TextBox 13"/>
          <p:cNvSpPr txBox="1"/>
          <p:nvPr/>
        </p:nvSpPr>
        <p:spPr>
          <a:xfrm>
            <a:off x="640080" y="5925312"/>
            <a:ext cx="4251960" cy="429768"/>
          </a:xfrm>
          <a:prstGeom prst="rect">
            <a:avLst/>
          </a:prstGeom>
          <a:noFill/>
        </p:spPr>
        <p:txBody>
          <a:bodyPr wrap="square" lIns="0" rIns="0" tIns="0" bIns="0" anchor="ctr">
            <a:noAutofit/>
          </a:bodyPr>
          <a:lstStyle/>
          <a:p>
            <a:pPr algn="ctr">
              <a:lnSpc>
                <a:spcPct val="95000"/>
              </a:lnSpc>
            </a:pPr>
            <a:r>
              <a:rPr b="0" i="0" sz="1100">
                <a:solidFill>
                  <a:srgbClr val="000000"/>
                </a:solidFill>
                <a:latin typeface="Poppins Medium"/>
              </a:rPr>
              <a:t>Vertical Dom Henrique · VA Coworking · R. do Bolhão, Porto</a:t>
            </a:r>
          </a:p>
        </p:txBody>
      </p:sp>
      <p:sp>
        <p:nvSpPr>
          <p:cNvPr id="15" name="Rounded Rectangle 14"/>
          <p:cNvSpPr/>
          <p:nvPr/>
        </p:nvSpPr>
        <p:spPr>
          <a:xfrm>
            <a:off x="5349240" y="457200"/>
            <a:ext cx="6355080" cy="2788920"/>
          </a:xfrm>
          <a:prstGeom prst="roundRect">
            <a:avLst>
              <a:gd name="adj" fmla="val 65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icardo-pereira-4b290f0cb7.png"/>
          <p:cNvPicPr>
            <a:picLocks noChangeAspect="1"/>
          </p:cNvPicPr>
          <p:nvPr/>
        </p:nvPicPr>
        <p:blipFill>
          <a:blip r:embed="rId7"/>
          <a:stretch>
            <a:fillRect/>
          </a:stretch>
        </p:blipFill>
        <p:spPr>
          <a:xfrm>
            <a:off x="5577840" y="685800"/>
            <a:ext cx="1874519" cy="2331720"/>
          </a:xfrm>
          <a:prstGeom prst="rect">
            <a:avLst/>
          </a:prstGeom>
        </p:spPr>
      </p:pic>
      <p:sp>
        <p:nvSpPr>
          <p:cNvPr id="17" name="TextBox 16"/>
          <p:cNvSpPr txBox="1"/>
          <p:nvPr/>
        </p:nvSpPr>
        <p:spPr>
          <a:xfrm>
            <a:off x="7680960" y="713232"/>
            <a:ext cx="3840480" cy="1417320"/>
          </a:xfrm>
          <a:prstGeom prst="rect">
            <a:avLst/>
          </a:prstGeom>
          <a:noFill/>
        </p:spPr>
        <p:txBody>
          <a:bodyPr wrap="square" lIns="0" rIns="0" tIns="0" bIns="0" anchor="t">
            <a:noAutofit/>
          </a:bodyPr>
          <a:lstStyle/>
          <a:p>
            <a:pPr algn="l">
              <a:lnSpc>
                <a:spcPct val="105000"/>
              </a:lnSpc>
            </a:pPr>
            <a:r>
              <a:rPr b="1" i="0" sz="2100">
                <a:solidFill>
                  <a:srgbClr val="000000"/>
                </a:solidFill>
                <a:latin typeface="Poppins"/>
              </a:rPr>
              <a:t>What is technical management in OutSystems</a:t>
            </a:r>
          </a:p>
        </p:txBody>
      </p:sp>
      <p:sp>
        <p:nvSpPr>
          <p:cNvPr id="18" name="Rounded Rectangle 17"/>
          <p:cNvSpPr/>
          <p:nvPr/>
        </p:nvSpPr>
        <p:spPr>
          <a:xfrm>
            <a:off x="7680960" y="2194560"/>
            <a:ext cx="1708327" cy="384048"/>
          </a:xfrm>
          <a:prstGeom prst="roundRect">
            <a:avLst>
              <a:gd name="adj" fmla="val 50000"/>
            </a:avLst>
          </a:prstGeom>
          <a:solidFill>
            <a:srgbClr val="453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680960" y="2194560"/>
            <a:ext cx="1708327" cy="384048"/>
          </a:xfrm>
          <a:prstGeom prst="rect">
            <a:avLst/>
          </a:prstGeom>
          <a:noFill/>
        </p:spPr>
        <p:txBody>
          <a:bodyPr wrap="square" lIns="0" rIns="0" tIns="0" bIns="0" anchor="ctr">
            <a:noAutofit/>
          </a:bodyPr>
          <a:lstStyle/>
          <a:p>
            <a:pPr algn="ctr">
              <a:lnSpc>
                <a:spcPct val="100000"/>
              </a:lnSpc>
            </a:pPr>
            <a:r>
              <a:rPr b="1" i="0" sz="1300">
                <a:solidFill>
                  <a:srgbClr val="FFFFFF"/>
                </a:solidFill>
                <a:latin typeface="Poppins"/>
              </a:rPr>
              <a:t>Ricardo Pereira</a:t>
            </a:r>
          </a:p>
        </p:txBody>
      </p:sp>
      <p:sp>
        <p:nvSpPr>
          <p:cNvPr id="20" name="Rounded Rectangle 19"/>
          <p:cNvSpPr/>
          <p:nvPr/>
        </p:nvSpPr>
        <p:spPr>
          <a:xfrm>
            <a:off x="7680960" y="2651760"/>
            <a:ext cx="3183636" cy="365760"/>
          </a:xfrm>
          <a:prstGeom prst="roundRect">
            <a:avLst>
              <a:gd name="adj" fmla="val 50000"/>
            </a:avLst>
          </a:prstGeom>
          <a:solidFill>
            <a:srgbClr val="E5EA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680960" y="2651760"/>
            <a:ext cx="3183636" cy="365760"/>
          </a:xfrm>
          <a:prstGeom prst="rect">
            <a:avLst/>
          </a:prstGeom>
          <a:noFill/>
        </p:spPr>
        <p:txBody>
          <a:bodyPr wrap="square" lIns="0" rIns="0" tIns="0" bIns="0" anchor="ctr">
            <a:noAutofit/>
          </a:bodyPr>
          <a:lstStyle/>
          <a:p>
            <a:pPr algn="ctr">
              <a:lnSpc>
                <a:spcPct val="100000"/>
              </a:lnSpc>
            </a:pPr>
            <a:r>
              <a:rPr b="0" i="0" sz="1050">
                <a:solidFill>
                  <a:srgbClr val="000000"/>
                </a:solidFill>
                <a:latin typeface="Poppins Medium"/>
              </a:rPr>
              <a:t>OutSystems Factory Manager | Tech Lead</a:t>
            </a:r>
          </a:p>
        </p:txBody>
      </p:sp>
      <p:sp>
        <p:nvSpPr>
          <p:cNvPr id="22" name="Rounded Rectangle 21"/>
          <p:cNvSpPr/>
          <p:nvPr/>
        </p:nvSpPr>
        <p:spPr>
          <a:xfrm>
            <a:off x="5349240" y="3566160"/>
            <a:ext cx="6355080" cy="2788920"/>
          </a:xfrm>
          <a:prstGeom prst="roundRect">
            <a:avLst>
              <a:gd name="adj" fmla="val 65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rafael-arruda-452c7d80ba.png"/>
          <p:cNvPicPr>
            <a:picLocks noChangeAspect="1"/>
          </p:cNvPicPr>
          <p:nvPr/>
        </p:nvPicPr>
        <p:blipFill>
          <a:blip r:embed="rId8"/>
          <a:stretch>
            <a:fillRect/>
          </a:stretch>
        </p:blipFill>
        <p:spPr>
          <a:xfrm>
            <a:off x="5577840" y="3794760"/>
            <a:ext cx="1874519" cy="2331720"/>
          </a:xfrm>
          <a:prstGeom prst="rect">
            <a:avLst/>
          </a:prstGeom>
        </p:spPr>
      </p:pic>
      <p:sp>
        <p:nvSpPr>
          <p:cNvPr id="24" name="TextBox 23"/>
          <p:cNvSpPr txBox="1"/>
          <p:nvPr/>
        </p:nvSpPr>
        <p:spPr>
          <a:xfrm>
            <a:off x="7680960" y="3822191"/>
            <a:ext cx="3840480" cy="1417320"/>
          </a:xfrm>
          <a:prstGeom prst="rect">
            <a:avLst/>
          </a:prstGeom>
          <a:noFill/>
        </p:spPr>
        <p:txBody>
          <a:bodyPr wrap="square" lIns="0" rIns="0" tIns="0" bIns="0" anchor="t">
            <a:noAutofit/>
          </a:bodyPr>
          <a:lstStyle/>
          <a:p>
            <a:pPr algn="l">
              <a:lnSpc>
                <a:spcPct val="105000"/>
              </a:lnSpc>
            </a:pPr>
            <a:r>
              <a:rPr b="1" i="0" sz="2100">
                <a:solidFill>
                  <a:srgbClr val="000000"/>
                </a:solidFill>
                <a:latin typeface="Poppins"/>
              </a:rPr>
              <a:t>Building a Modern Event-Driven Data Platform with AWS &amp; Snowflake</a:t>
            </a:r>
          </a:p>
        </p:txBody>
      </p:sp>
      <p:sp>
        <p:nvSpPr>
          <p:cNvPr id="25" name="Rounded Rectangle 24"/>
          <p:cNvSpPr/>
          <p:nvPr/>
        </p:nvSpPr>
        <p:spPr>
          <a:xfrm>
            <a:off x="7680960" y="5303520"/>
            <a:ext cx="1587677" cy="384048"/>
          </a:xfrm>
          <a:prstGeom prst="roundRect">
            <a:avLst>
              <a:gd name="adj" fmla="val 50000"/>
            </a:avLst>
          </a:prstGeom>
          <a:solidFill>
            <a:srgbClr val="453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680960" y="5303520"/>
            <a:ext cx="1587677" cy="384048"/>
          </a:xfrm>
          <a:prstGeom prst="rect">
            <a:avLst/>
          </a:prstGeom>
          <a:noFill/>
        </p:spPr>
        <p:txBody>
          <a:bodyPr wrap="square" lIns="0" rIns="0" tIns="0" bIns="0" anchor="ctr">
            <a:noAutofit/>
          </a:bodyPr>
          <a:lstStyle/>
          <a:p>
            <a:pPr algn="ctr">
              <a:lnSpc>
                <a:spcPct val="100000"/>
              </a:lnSpc>
            </a:pPr>
            <a:r>
              <a:rPr b="1" i="0" sz="1300">
                <a:solidFill>
                  <a:srgbClr val="FFFFFF"/>
                </a:solidFill>
                <a:latin typeface="Poppins"/>
              </a:rPr>
              <a:t>Rafael Arruda</a:t>
            </a:r>
          </a:p>
        </p:txBody>
      </p:sp>
      <p:sp>
        <p:nvSpPr>
          <p:cNvPr id="27" name="Rounded Rectangle 26"/>
          <p:cNvSpPr/>
          <p:nvPr/>
        </p:nvSpPr>
        <p:spPr>
          <a:xfrm>
            <a:off x="7680960" y="5760720"/>
            <a:ext cx="2793111" cy="365760"/>
          </a:xfrm>
          <a:prstGeom prst="roundRect">
            <a:avLst>
              <a:gd name="adj" fmla="val 50000"/>
            </a:avLst>
          </a:prstGeom>
          <a:solidFill>
            <a:srgbClr val="E5EA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680960" y="5760720"/>
            <a:ext cx="2793111" cy="365760"/>
          </a:xfrm>
          <a:prstGeom prst="rect">
            <a:avLst/>
          </a:prstGeom>
          <a:noFill/>
        </p:spPr>
        <p:txBody>
          <a:bodyPr wrap="square" lIns="0" rIns="0" tIns="0" bIns="0" anchor="ctr">
            <a:noAutofit/>
          </a:bodyPr>
          <a:lstStyle/>
          <a:p>
            <a:pPr algn="ctr">
              <a:lnSpc>
                <a:spcPct val="100000"/>
              </a:lnSpc>
            </a:pPr>
            <a:r>
              <a:rPr b="0" i="0" sz="1050">
                <a:solidFill>
                  <a:srgbClr val="000000"/>
                </a:solidFill>
                <a:latin typeface="Poppins Medium"/>
              </a:rPr>
              <a:t>Data Engineer at Best in Bi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30936" y="493776"/>
            <a:ext cx="6271895" cy="868680"/>
          </a:xfrm>
          <a:prstGeom prst="roundRect">
            <a:avLst>
              <a:gd name="adj" fmla="val 21052"/>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411480"/>
            <a:ext cx="6271895" cy="868680"/>
          </a:xfrm>
          <a:prstGeom prst="roundRect">
            <a:avLst>
              <a:gd name="adj" fmla="val 21052"/>
            </a:avLst>
          </a:prstGeom>
          <a:solidFill>
            <a:srgbClr val="FFFFFF"/>
          </a:solidFill>
          <a:ln w="317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411480"/>
            <a:ext cx="5723255" cy="868680"/>
          </a:xfrm>
          <a:prstGeom prst="rect">
            <a:avLst/>
          </a:prstGeom>
          <a:noFill/>
        </p:spPr>
        <p:txBody>
          <a:bodyPr wrap="square" lIns="0" rIns="0" tIns="0" bIns="0" anchor="ctr">
            <a:noAutofit/>
          </a:bodyPr>
          <a:lstStyle/>
          <a:p>
            <a:pPr algn="l">
              <a:lnSpc>
                <a:spcPct val="100000"/>
              </a:lnSpc>
            </a:pPr>
            <a:r>
              <a:rPr b="1" i="0" sz="3000">
                <a:solidFill>
                  <a:srgbClr val="000000"/>
                </a:solidFill>
                <a:latin typeface="Poppins"/>
              </a:rPr>
              <a:t>About AWS User Group Porto</a:t>
            </a:r>
          </a:p>
        </p:txBody>
      </p:sp>
      <p:sp>
        <p:nvSpPr>
          <p:cNvPr id="6" name="Rounded Rectangle 5"/>
          <p:cNvSpPr/>
          <p:nvPr/>
        </p:nvSpPr>
        <p:spPr>
          <a:xfrm>
            <a:off x="548640" y="1600200"/>
            <a:ext cx="4754880" cy="4526280"/>
          </a:xfrm>
          <a:prstGeom prst="roundRect">
            <a:avLst>
              <a:gd name="adj" fmla="val 404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aws-ug-porto.jpg"/>
          <p:cNvPicPr>
            <a:picLocks noChangeAspect="1"/>
          </p:cNvPicPr>
          <p:nvPr/>
        </p:nvPicPr>
        <p:blipFill>
          <a:blip r:embed="rId3"/>
          <a:stretch>
            <a:fillRect/>
          </a:stretch>
        </p:blipFill>
        <p:spPr>
          <a:xfrm>
            <a:off x="813771" y="1828800"/>
            <a:ext cx="4224617" cy="2286000"/>
          </a:xfrm>
          <a:prstGeom prst="rect">
            <a:avLst/>
          </a:prstGeom>
        </p:spPr>
      </p:pic>
      <p:sp>
        <p:nvSpPr>
          <p:cNvPr id="8" name="TextBox 7"/>
          <p:cNvSpPr txBox="1"/>
          <p:nvPr/>
        </p:nvSpPr>
        <p:spPr>
          <a:xfrm>
            <a:off x="868680" y="4251960"/>
            <a:ext cx="4114800" cy="1783080"/>
          </a:xfrm>
          <a:prstGeom prst="rect">
            <a:avLst/>
          </a:prstGeom>
          <a:noFill/>
        </p:spPr>
        <p:txBody>
          <a:bodyPr wrap="square" lIns="0" rIns="0" tIns="0" bIns="0" anchor="t">
            <a:noAutofit/>
          </a:bodyPr>
          <a:lstStyle/>
          <a:p>
            <a:pPr algn="l">
              <a:lnSpc>
                <a:spcPct val="105000"/>
              </a:lnSpc>
              <a:spcAft>
                <a:spcPts val="800"/>
              </a:spcAft>
            </a:pPr>
            <a:r>
              <a:rPr b="0" i="0" sz="1500">
                <a:solidFill>
                  <a:srgbClr val="000000"/>
                </a:solidFill>
                <a:latin typeface="Poppins SemiBold"/>
              </a:rPr>
              <a:t>Your community for AWS &amp; Cloud Technology in Porto</a:t>
            </a:r>
          </a:p>
          <a:p>
            <a:pPr algn="l">
              <a:lnSpc>
                <a:spcPct val="105000"/>
              </a:lnSpc>
              <a:spcAft>
                <a:spcPts val="800"/>
              </a:spcAft>
            </a:pPr>
            <a:r>
              <a:rPr b="0" i="1" sz="1250">
                <a:solidFill>
                  <a:srgbClr val="3A3A4A"/>
                </a:solidFill>
                <a:latin typeface="Poppins"/>
              </a:rPr>
              <a:t>“Two communities that rarely share a stage, together for one evening.”</a:t>
            </a:r>
          </a:p>
        </p:txBody>
      </p:sp>
      <p:sp>
        <p:nvSpPr>
          <p:cNvPr id="9" name="TextBox 8"/>
          <p:cNvSpPr txBox="1"/>
          <p:nvPr/>
        </p:nvSpPr>
        <p:spPr>
          <a:xfrm>
            <a:off x="5760720" y="1645920"/>
            <a:ext cx="4160520" cy="4480560"/>
          </a:xfrm>
          <a:prstGeom prst="rect">
            <a:avLst/>
          </a:prstGeom>
          <a:noFill/>
        </p:spPr>
        <p:txBody>
          <a:bodyPr wrap="square" lIns="0" rIns="0" tIns="0" bIns="0" anchor="ctr">
            <a:noAutofit/>
          </a:bodyPr>
          <a:lstStyle/>
          <a:p>
            <a:pPr algn="l">
              <a:lnSpc>
                <a:spcPct val="105000"/>
              </a:lnSpc>
              <a:spcAft>
                <a:spcPts val="1000"/>
              </a:spcAft>
            </a:pPr>
            <a:r>
              <a:rPr b="0" i="0" sz="1800">
                <a:solidFill>
                  <a:srgbClr val="FFFFFF"/>
                </a:solidFill>
                <a:latin typeface="Poppins Medium"/>
              </a:rPr>
              <a:t>•  Official AWS User Group in Porto, founded in 2016</a:t>
            </a:r>
          </a:p>
          <a:p>
            <a:pPr algn="l">
              <a:lnSpc>
                <a:spcPct val="105000"/>
              </a:lnSpc>
              <a:spcAft>
                <a:spcPts val="1000"/>
              </a:spcAft>
            </a:pPr>
            <a:r>
              <a:rPr b="0" i="0" sz="1800">
                <a:solidFill>
                  <a:srgbClr val="FFFFFF"/>
                </a:solidFill>
                <a:latin typeface="Poppins Medium"/>
              </a:rPr>
              <a:t>•  391 members on Meetup and a 4.81★ average event rating</a:t>
            </a:r>
          </a:p>
          <a:p>
            <a:pPr algn="l">
              <a:lnSpc>
                <a:spcPct val="105000"/>
              </a:lnSpc>
              <a:spcAft>
                <a:spcPts val="1000"/>
              </a:spcAft>
            </a:pPr>
            <a:r>
              <a:rPr b="0" i="0" sz="1800">
                <a:solidFill>
                  <a:srgbClr val="FFFFFF"/>
                </a:solidFill>
                <a:latin typeface="Poppins Medium"/>
              </a:rPr>
              <a:t>•  Cloud computing, DevOps, AI/ML, serverless, security and beyond</a:t>
            </a:r>
          </a:p>
          <a:p>
            <a:pPr algn="l">
              <a:lnSpc>
                <a:spcPct val="105000"/>
              </a:lnSpc>
              <a:spcAft>
                <a:spcPts val="1000"/>
              </a:spcAft>
            </a:pPr>
            <a:r>
              <a:rPr b="0" i="0" sz="1800">
                <a:solidFill>
                  <a:srgbClr val="FFFFFF"/>
                </a:solidFill>
                <a:latin typeface="Poppins Medium"/>
              </a:rPr>
              <a:t>•  Meetups, workshops and hands-on sessions on AWS best practices</a:t>
            </a:r>
          </a:p>
          <a:p>
            <a:pPr algn="l">
              <a:lnSpc>
                <a:spcPct val="105000"/>
              </a:lnSpc>
              <a:spcAft>
                <a:spcPts val="1000"/>
              </a:spcAft>
            </a:pPr>
            <a:r>
              <a:rPr b="0" i="0" sz="1800">
                <a:solidFill>
                  <a:srgbClr val="FFFFFF"/>
                </a:solidFill>
                <a:latin typeface="Poppins Medium"/>
              </a:rPr>
              <a:t>•  #8 edition: our first joint meetup with OutSystems User Group Porto</a:t>
            </a:r>
          </a:p>
        </p:txBody>
      </p:sp>
      <p:sp>
        <p:nvSpPr>
          <p:cNvPr id="10" name="Rounded Rectangle 9"/>
          <p:cNvSpPr/>
          <p:nvPr/>
        </p:nvSpPr>
        <p:spPr>
          <a:xfrm>
            <a:off x="10104120" y="1600200"/>
            <a:ext cx="1554480" cy="2057400"/>
          </a:xfrm>
          <a:prstGeom prst="roundRect">
            <a:avLst>
              <a:gd name="adj" fmla="val 1176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meetup-group.png">
            <a:hlinkClick r:id="rId5"/>
          </p:cNvPr>
          <p:cNvPicPr>
            <a:picLocks noChangeAspect="1"/>
          </p:cNvPicPr>
          <p:nvPr/>
        </p:nvPicPr>
        <p:blipFill>
          <a:blip r:embed="rId4"/>
          <a:stretch>
            <a:fillRect/>
          </a:stretch>
        </p:blipFill>
        <p:spPr>
          <a:xfrm>
            <a:off x="10241280" y="1691640"/>
            <a:ext cx="1280160" cy="1280160"/>
          </a:xfrm>
          <a:prstGeom prst="rect">
            <a:avLst/>
          </a:prstGeom>
        </p:spPr>
      </p:pic>
      <p:sp>
        <p:nvSpPr>
          <p:cNvPr id="12" name="TextBox 11"/>
          <p:cNvSpPr txBox="1"/>
          <p:nvPr/>
        </p:nvSpPr>
        <p:spPr>
          <a:xfrm>
            <a:off x="10104120" y="3017520"/>
            <a:ext cx="1554480" cy="548640"/>
          </a:xfrm>
          <a:prstGeom prst="rect">
            <a:avLst/>
          </a:prstGeom>
          <a:noFill/>
        </p:spPr>
        <p:txBody>
          <a:bodyPr wrap="square" lIns="0" rIns="0" tIns="0" bIns="0" anchor="ctr">
            <a:noAutofit/>
          </a:bodyPr>
          <a:lstStyle/>
          <a:p>
            <a:pPr algn="ctr">
              <a:lnSpc>
                <a:spcPct val="100000"/>
              </a:lnSpc>
            </a:pPr>
            <a:r>
              <a:rPr b="1" i="0" sz="1050">
                <a:solidFill>
                  <a:srgbClr val="000000"/>
                </a:solidFill>
                <a:latin typeface="Poppins"/>
              </a:rPr>
              <a:t>Join us on Meetup</a:t>
            </a:r>
          </a:p>
        </p:txBody>
      </p:sp>
      <p:sp>
        <p:nvSpPr>
          <p:cNvPr id="13" name="TextBox 12"/>
          <p:cNvSpPr txBox="1"/>
          <p:nvPr/>
        </p:nvSpPr>
        <p:spPr>
          <a:xfrm>
            <a:off x="548640" y="6446520"/>
            <a:ext cx="8229600" cy="274320"/>
          </a:xfrm>
          <a:prstGeom prst="rect">
            <a:avLst/>
          </a:prstGeom>
          <a:noFill/>
        </p:spPr>
        <p:txBody>
          <a:bodyPr wrap="square" lIns="0" rIns="0" tIns="0" bIns="0" anchor="ctr">
            <a:noAutofit/>
          </a:bodyPr>
          <a:lstStyle/>
          <a:p>
            <a:pPr algn="l">
              <a:lnSpc>
                <a:spcPct val="100000"/>
              </a:lnSpc>
            </a:pPr>
            <a:r>
              <a:rPr b="0" i="0" sz="1050">
                <a:solidFill>
                  <a:srgbClr val="EDE9F7"/>
                </a:solidFill>
                <a:latin typeface="Poppins Medium"/>
              </a:rPr>
              <a:t>AWS User Group Porto  ×  OutSystems User Group Porto   ·   #8   ·   8 September 2026</a:t>
            </a:r>
          </a:p>
        </p:txBody>
      </p:sp>
      <p:sp>
        <p:nvSpPr>
          <p:cNvPr id="14" name="TextBox 13"/>
          <p:cNvSpPr txBox="1"/>
          <p:nvPr/>
        </p:nvSpPr>
        <p:spPr>
          <a:xfrm>
            <a:off x="10607040" y="6446520"/>
            <a:ext cx="1033271" cy="274320"/>
          </a:xfrm>
          <a:prstGeom prst="rect">
            <a:avLst/>
          </a:prstGeom>
          <a:noFill/>
        </p:spPr>
        <p:txBody>
          <a:bodyPr wrap="square" lIns="0" rIns="0" tIns="0" bIns="0" anchor="ctr">
            <a:noAutofit/>
          </a:bodyPr>
          <a:lstStyle/>
          <a:p>
            <a:pPr algn="r">
              <a:lnSpc>
                <a:spcPct val="100000"/>
              </a:lnSpc>
            </a:pPr>
            <a:r>
              <a:rPr b="0" i="0" sz="1050">
                <a:solidFill>
                  <a:srgbClr val="EDE9F7"/>
                </a:solidFill>
                <a:latin typeface="Poppins Medium"/>
              </a:rPr>
              <a:t>2 / 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30936" y="493776"/>
            <a:ext cx="4887595" cy="868680"/>
          </a:xfrm>
          <a:prstGeom prst="roundRect">
            <a:avLst>
              <a:gd name="adj" fmla="val 21052"/>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411480"/>
            <a:ext cx="4887595" cy="868680"/>
          </a:xfrm>
          <a:prstGeom prst="roundRect">
            <a:avLst>
              <a:gd name="adj" fmla="val 21052"/>
            </a:avLst>
          </a:prstGeom>
          <a:solidFill>
            <a:srgbClr val="FFFFFF"/>
          </a:solidFill>
          <a:ln w="317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411480"/>
            <a:ext cx="4338955" cy="868680"/>
          </a:xfrm>
          <a:prstGeom prst="rect">
            <a:avLst/>
          </a:prstGeom>
          <a:noFill/>
        </p:spPr>
        <p:txBody>
          <a:bodyPr wrap="square" lIns="0" rIns="0" tIns="0" bIns="0" anchor="ctr">
            <a:noAutofit/>
          </a:bodyPr>
          <a:lstStyle/>
          <a:p>
            <a:pPr algn="l">
              <a:lnSpc>
                <a:spcPct val="100000"/>
              </a:lnSpc>
            </a:pPr>
            <a:r>
              <a:rPr b="1" i="0" sz="3000">
                <a:solidFill>
                  <a:srgbClr val="000000"/>
                </a:solidFill>
                <a:latin typeface="Poppins"/>
              </a:rPr>
              <a:t>Our Leadership Team</a:t>
            </a:r>
          </a:p>
        </p:txBody>
      </p:sp>
      <p:sp>
        <p:nvSpPr>
          <p:cNvPr id="6" name="Rounded Rectangle 5"/>
          <p:cNvSpPr/>
          <p:nvPr/>
        </p:nvSpPr>
        <p:spPr>
          <a:xfrm>
            <a:off x="548640" y="1965960"/>
            <a:ext cx="2101291" cy="3246120"/>
          </a:xfrm>
          <a:prstGeom prst="roundRect">
            <a:avLst>
              <a:gd name="adj" fmla="val 870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27785" y="2263139"/>
            <a:ext cx="1143000" cy="1143000"/>
          </a:xfrm>
          <a:prstGeom prst="ellipse">
            <a:avLst/>
          </a:prstGeom>
          <a:solidFill>
            <a:srgbClr val="453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7785" y="2263139"/>
            <a:ext cx="1143000" cy="1143000"/>
          </a:xfrm>
          <a:prstGeom prst="rect">
            <a:avLst/>
          </a:prstGeom>
          <a:noFill/>
        </p:spPr>
        <p:txBody>
          <a:bodyPr wrap="square" lIns="0" rIns="0" tIns="0" bIns="0" anchor="ctr">
            <a:noAutofit/>
          </a:bodyPr>
          <a:lstStyle/>
          <a:p>
            <a:pPr algn="ctr">
              <a:lnSpc>
                <a:spcPct val="100000"/>
              </a:lnSpc>
            </a:pPr>
            <a:r>
              <a:rPr b="1" i="0" sz="2750">
                <a:solidFill>
                  <a:srgbClr val="FFFFFF"/>
                </a:solidFill>
                <a:latin typeface="Poppins"/>
              </a:rPr>
              <a:t>FS</a:t>
            </a:r>
          </a:p>
        </p:txBody>
      </p:sp>
      <p:sp>
        <p:nvSpPr>
          <p:cNvPr id="9" name="TextBox 8"/>
          <p:cNvSpPr txBox="1"/>
          <p:nvPr/>
        </p:nvSpPr>
        <p:spPr>
          <a:xfrm>
            <a:off x="658368" y="3566160"/>
            <a:ext cx="1881835" cy="685800"/>
          </a:xfrm>
          <a:prstGeom prst="rect">
            <a:avLst/>
          </a:prstGeom>
          <a:noFill/>
        </p:spPr>
        <p:txBody>
          <a:bodyPr wrap="square" lIns="0" rIns="0" tIns="0" bIns="0" anchor="ctr">
            <a:noAutofit/>
          </a:bodyPr>
          <a:lstStyle/>
          <a:p>
            <a:pPr algn="ctr">
              <a:lnSpc>
                <a:spcPct val="95000"/>
              </a:lnSpc>
            </a:pPr>
            <a:r>
              <a:rPr b="1" i="0" sz="1450">
                <a:solidFill>
                  <a:srgbClr val="000000"/>
                </a:solidFill>
                <a:latin typeface="Poppins"/>
              </a:rPr>
              <a:t>Fábio Sampaio</a:t>
            </a:r>
          </a:p>
        </p:txBody>
      </p:sp>
      <p:sp>
        <p:nvSpPr>
          <p:cNvPr id="10" name="Rounded Rectangle 9"/>
          <p:cNvSpPr/>
          <p:nvPr/>
        </p:nvSpPr>
        <p:spPr>
          <a:xfrm>
            <a:off x="1122959" y="4343400"/>
            <a:ext cx="952652" cy="329184"/>
          </a:xfrm>
          <a:prstGeom prst="roundRect">
            <a:avLst>
              <a:gd name="adj" fmla="val 50000"/>
            </a:avLst>
          </a:prstGeom>
          <a:solidFill>
            <a:srgbClr val="E5EA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22959" y="4343400"/>
            <a:ext cx="952652" cy="329184"/>
          </a:xfrm>
          <a:prstGeom prst="rect">
            <a:avLst/>
          </a:prstGeom>
          <a:noFill/>
        </p:spPr>
        <p:txBody>
          <a:bodyPr wrap="square" lIns="0" rIns="0" tIns="0" bIns="0" anchor="ctr">
            <a:noAutofit/>
          </a:bodyPr>
          <a:lstStyle/>
          <a:p>
            <a:pPr algn="ctr">
              <a:lnSpc>
                <a:spcPct val="100000"/>
              </a:lnSpc>
            </a:pPr>
            <a:r>
              <a:rPr b="0" i="0" sz="950">
                <a:solidFill>
                  <a:srgbClr val="000000"/>
                </a:solidFill>
                <a:latin typeface="Poppins Medium"/>
              </a:rPr>
              <a:t>Organizer</a:t>
            </a:r>
          </a:p>
        </p:txBody>
      </p:sp>
      <p:sp>
        <p:nvSpPr>
          <p:cNvPr id="12" name="Rounded Rectangle 11"/>
          <p:cNvSpPr/>
          <p:nvPr/>
        </p:nvSpPr>
        <p:spPr>
          <a:xfrm>
            <a:off x="1001788" y="4754879"/>
            <a:ext cx="1194993" cy="292608"/>
          </a:xfrm>
          <a:prstGeom prst="roundRect">
            <a:avLst>
              <a:gd name="adj" fmla="val 50000"/>
            </a:avLst>
          </a:prstGeom>
          <a:solidFill>
            <a:srgbClr val="7B5A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1788" y="4754879"/>
            <a:ext cx="1194993" cy="292608"/>
          </a:xfrm>
          <a:prstGeom prst="rect">
            <a:avLst/>
          </a:prstGeom>
          <a:noFill/>
        </p:spPr>
        <p:txBody>
          <a:bodyPr wrap="square" lIns="0" rIns="0" tIns="0" bIns="0" anchor="ctr">
            <a:noAutofit/>
          </a:bodyPr>
          <a:lstStyle/>
          <a:p>
            <a:pPr algn="ctr">
              <a:lnSpc>
                <a:spcPct val="100000"/>
              </a:lnSpc>
            </a:pPr>
            <a:r>
              <a:rPr b="1" i="0" sz="850">
                <a:solidFill>
                  <a:srgbClr val="FFFFFF"/>
                </a:solidFill>
                <a:latin typeface="Poppins"/>
              </a:rPr>
              <a:t>Hosting tonight</a:t>
            </a:r>
          </a:p>
        </p:txBody>
      </p:sp>
      <p:sp>
        <p:nvSpPr>
          <p:cNvPr id="14" name="Rounded Rectangle 13"/>
          <p:cNvSpPr/>
          <p:nvPr/>
        </p:nvSpPr>
        <p:spPr>
          <a:xfrm>
            <a:off x="2796235" y="1965960"/>
            <a:ext cx="2101291" cy="3246120"/>
          </a:xfrm>
          <a:prstGeom prst="roundRect">
            <a:avLst>
              <a:gd name="adj" fmla="val 870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275380" y="2263139"/>
            <a:ext cx="1143000" cy="1143000"/>
          </a:xfrm>
          <a:prstGeom prst="ellipse">
            <a:avLst/>
          </a:prstGeom>
          <a:solidFill>
            <a:srgbClr val="453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75380" y="2263139"/>
            <a:ext cx="1143000" cy="1143000"/>
          </a:xfrm>
          <a:prstGeom prst="rect">
            <a:avLst/>
          </a:prstGeom>
          <a:noFill/>
        </p:spPr>
        <p:txBody>
          <a:bodyPr wrap="square" lIns="0" rIns="0" tIns="0" bIns="0" anchor="ctr">
            <a:noAutofit/>
          </a:bodyPr>
          <a:lstStyle/>
          <a:p>
            <a:pPr algn="ctr">
              <a:lnSpc>
                <a:spcPct val="100000"/>
              </a:lnSpc>
            </a:pPr>
            <a:r>
              <a:rPr b="1" i="0" sz="2750">
                <a:solidFill>
                  <a:srgbClr val="FFFFFF"/>
                </a:solidFill>
                <a:latin typeface="Poppins"/>
              </a:rPr>
              <a:t>GA</a:t>
            </a:r>
          </a:p>
        </p:txBody>
      </p:sp>
      <p:sp>
        <p:nvSpPr>
          <p:cNvPr id="17" name="TextBox 16"/>
          <p:cNvSpPr txBox="1"/>
          <p:nvPr/>
        </p:nvSpPr>
        <p:spPr>
          <a:xfrm>
            <a:off x="2905963" y="3566160"/>
            <a:ext cx="1881835" cy="685800"/>
          </a:xfrm>
          <a:prstGeom prst="rect">
            <a:avLst/>
          </a:prstGeom>
          <a:noFill/>
        </p:spPr>
        <p:txBody>
          <a:bodyPr wrap="square" lIns="0" rIns="0" tIns="0" bIns="0" anchor="ctr">
            <a:noAutofit/>
          </a:bodyPr>
          <a:lstStyle/>
          <a:p>
            <a:pPr algn="ctr">
              <a:lnSpc>
                <a:spcPct val="95000"/>
              </a:lnSpc>
            </a:pPr>
            <a:r>
              <a:rPr b="1" i="0" sz="1450">
                <a:solidFill>
                  <a:srgbClr val="000000"/>
                </a:solidFill>
                <a:latin typeface="Poppins"/>
              </a:rPr>
              <a:t>Gabriel Alves</a:t>
            </a:r>
          </a:p>
        </p:txBody>
      </p:sp>
      <p:sp>
        <p:nvSpPr>
          <p:cNvPr id="18" name="Rounded Rectangle 17"/>
          <p:cNvSpPr/>
          <p:nvPr/>
        </p:nvSpPr>
        <p:spPr>
          <a:xfrm>
            <a:off x="3259429" y="4343400"/>
            <a:ext cx="1174902" cy="329184"/>
          </a:xfrm>
          <a:prstGeom prst="roundRect">
            <a:avLst>
              <a:gd name="adj" fmla="val 50000"/>
            </a:avLst>
          </a:prstGeom>
          <a:solidFill>
            <a:srgbClr val="E5EA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259429" y="4343400"/>
            <a:ext cx="1174902" cy="329184"/>
          </a:xfrm>
          <a:prstGeom prst="rect">
            <a:avLst/>
          </a:prstGeom>
          <a:noFill/>
        </p:spPr>
        <p:txBody>
          <a:bodyPr wrap="square" lIns="0" rIns="0" tIns="0" bIns="0" anchor="ctr">
            <a:noAutofit/>
          </a:bodyPr>
          <a:lstStyle/>
          <a:p>
            <a:pPr algn="ctr">
              <a:lnSpc>
                <a:spcPct val="100000"/>
              </a:lnSpc>
            </a:pPr>
            <a:r>
              <a:rPr b="0" i="0" sz="950">
                <a:solidFill>
                  <a:srgbClr val="000000"/>
                </a:solidFill>
                <a:latin typeface="Poppins Medium"/>
              </a:rPr>
              <a:t>Co-organizer</a:t>
            </a:r>
          </a:p>
        </p:txBody>
      </p:sp>
      <p:sp>
        <p:nvSpPr>
          <p:cNvPr id="20" name="Rounded Rectangle 19"/>
          <p:cNvSpPr/>
          <p:nvPr/>
        </p:nvSpPr>
        <p:spPr>
          <a:xfrm>
            <a:off x="3249383" y="4754879"/>
            <a:ext cx="1194993" cy="292608"/>
          </a:xfrm>
          <a:prstGeom prst="roundRect">
            <a:avLst>
              <a:gd name="adj" fmla="val 50000"/>
            </a:avLst>
          </a:prstGeom>
          <a:solidFill>
            <a:srgbClr val="7B5A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249383" y="4754879"/>
            <a:ext cx="1194993" cy="292608"/>
          </a:xfrm>
          <a:prstGeom prst="rect">
            <a:avLst/>
          </a:prstGeom>
          <a:noFill/>
        </p:spPr>
        <p:txBody>
          <a:bodyPr wrap="square" lIns="0" rIns="0" tIns="0" bIns="0" anchor="ctr">
            <a:noAutofit/>
          </a:bodyPr>
          <a:lstStyle/>
          <a:p>
            <a:pPr algn="ctr">
              <a:lnSpc>
                <a:spcPct val="100000"/>
              </a:lnSpc>
            </a:pPr>
            <a:r>
              <a:rPr b="1" i="0" sz="850">
                <a:solidFill>
                  <a:srgbClr val="FFFFFF"/>
                </a:solidFill>
                <a:latin typeface="Poppins"/>
              </a:rPr>
              <a:t>Hosting tonight</a:t>
            </a:r>
          </a:p>
        </p:txBody>
      </p:sp>
      <p:sp>
        <p:nvSpPr>
          <p:cNvPr id="22" name="Rounded Rectangle 21"/>
          <p:cNvSpPr/>
          <p:nvPr/>
        </p:nvSpPr>
        <p:spPr>
          <a:xfrm>
            <a:off x="5043830" y="1965960"/>
            <a:ext cx="2101291" cy="3246120"/>
          </a:xfrm>
          <a:prstGeom prst="roundRect">
            <a:avLst>
              <a:gd name="adj" fmla="val 870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5522976" y="2263139"/>
            <a:ext cx="1143000" cy="1143000"/>
          </a:xfrm>
          <a:prstGeom prst="ellipse">
            <a:avLst/>
          </a:prstGeom>
          <a:solidFill>
            <a:srgbClr val="453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22976" y="2263139"/>
            <a:ext cx="1143000" cy="1143000"/>
          </a:xfrm>
          <a:prstGeom prst="rect">
            <a:avLst/>
          </a:prstGeom>
          <a:noFill/>
        </p:spPr>
        <p:txBody>
          <a:bodyPr wrap="square" lIns="0" rIns="0" tIns="0" bIns="0" anchor="ctr">
            <a:noAutofit/>
          </a:bodyPr>
          <a:lstStyle/>
          <a:p>
            <a:pPr algn="ctr">
              <a:lnSpc>
                <a:spcPct val="100000"/>
              </a:lnSpc>
            </a:pPr>
            <a:r>
              <a:rPr b="1" i="0" sz="2750">
                <a:solidFill>
                  <a:srgbClr val="FFFFFF"/>
                </a:solidFill>
                <a:latin typeface="Poppins"/>
              </a:rPr>
              <a:t>LR</a:t>
            </a:r>
          </a:p>
        </p:txBody>
      </p:sp>
      <p:sp>
        <p:nvSpPr>
          <p:cNvPr id="25" name="TextBox 24"/>
          <p:cNvSpPr txBox="1"/>
          <p:nvPr/>
        </p:nvSpPr>
        <p:spPr>
          <a:xfrm>
            <a:off x="5153558" y="3566160"/>
            <a:ext cx="1881835" cy="685800"/>
          </a:xfrm>
          <a:prstGeom prst="rect">
            <a:avLst/>
          </a:prstGeom>
          <a:noFill/>
        </p:spPr>
        <p:txBody>
          <a:bodyPr wrap="square" lIns="0" rIns="0" tIns="0" bIns="0" anchor="ctr">
            <a:noAutofit/>
          </a:bodyPr>
          <a:lstStyle/>
          <a:p>
            <a:pPr algn="ctr">
              <a:lnSpc>
                <a:spcPct val="95000"/>
              </a:lnSpc>
            </a:pPr>
            <a:r>
              <a:rPr b="1" i="0" sz="1450">
                <a:solidFill>
                  <a:srgbClr val="000000"/>
                </a:solidFill>
                <a:latin typeface="Poppins"/>
              </a:rPr>
              <a:t>Luiz Rodrigues</a:t>
            </a:r>
          </a:p>
        </p:txBody>
      </p:sp>
      <p:sp>
        <p:nvSpPr>
          <p:cNvPr id="26" name="Rounded Rectangle 25"/>
          <p:cNvSpPr/>
          <p:nvPr/>
        </p:nvSpPr>
        <p:spPr>
          <a:xfrm>
            <a:off x="5445112" y="4343400"/>
            <a:ext cx="1298727" cy="329184"/>
          </a:xfrm>
          <a:prstGeom prst="roundRect">
            <a:avLst>
              <a:gd name="adj" fmla="val 50000"/>
            </a:avLst>
          </a:prstGeom>
          <a:solidFill>
            <a:srgbClr val="E5EA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45112" y="4343400"/>
            <a:ext cx="1298727" cy="329184"/>
          </a:xfrm>
          <a:prstGeom prst="rect">
            <a:avLst/>
          </a:prstGeom>
          <a:noFill/>
        </p:spPr>
        <p:txBody>
          <a:bodyPr wrap="square" lIns="0" rIns="0" tIns="0" bIns="0" anchor="ctr">
            <a:noAutofit/>
          </a:bodyPr>
          <a:lstStyle/>
          <a:p>
            <a:pPr algn="ctr">
              <a:lnSpc>
                <a:spcPct val="100000"/>
              </a:lnSpc>
            </a:pPr>
            <a:r>
              <a:rPr b="0" i="0" sz="950">
                <a:solidFill>
                  <a:srgbClr val="000000"/>
                </a:solidFill>
                <a:latin typeface="Poppins Medium"/>
              </a:rPr>
              <a:t>Event organizer</a:t>
            </a:r>
          </a:p>
        </p:txBody>
      </p:sp>
      <p:sp>
        <p:nvSpPr>
          <p:cNvPr id="28" name="Rounded Rectangle 27"/>
          <p:cNvSpPr/>
          <p:nvPr/>
        </p:nvSpPr>
        <p:spPr>
          <a:xfrm>
            <a:off x="5496979" y="4754879"/>
            <a:ext cx="1194993" cy="292608"/>
          </a:xfrm>
          <a:prstGeom prst="roundRect">
            <a:avLst>
              <a:gd name="adj" fmla="val 50000"/>
            </a:avLst>
          </a:prstGeom>
          <a:solidFill>
            <a:srgbClr val="7B5A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496979" y="4754879"/>
            <a:ext cx="1194993" cy="292608"/>
          </a:xfrm>
          <a:prstGeom prst="rect">
            <a:avLst/>
          </a:prstGeom>
          <a:noFill/>
        </p:spPr>
        <p:txBody>
          <a:bodyPr wrap="square" lIns="0" rIns="0" tIns="0" bIns="0" anchor="ctr">
            <a:noAutofit/>
          </a:bodyPr>
          <a:lstStyle/>
          <a:p>
            <a:pPr algn="ctr">
              <a:lnSpc>
                <a:spcPct val="100000"/>
              </a:lnSpc>
            </a:pPr>
            <a:r>
              <a:rPr b="1" i="0" sz="850">
                <a:solidFill>
                  <a:srgbClr val="FFFFFF"/>
                </a:solidFill>
                <a:latin typeface="Poppins"/>
              </a:rPr>
              <a:t>Hosting tonight</a:t>
            </a:r>
          </a:p>
        </p:txBody>
      </p:sp>
      <p:sp>
        <p:nvSpPr>
          <p:cNvPr id="30" name="Rounded Rectangle 29"/>
          <p:cNvSpPr/>
          <p:nvPr/>
        </p:nvSpPr>
        <p:spPr>
          <a:xfrm>
            <a:off x="7291425" y="1965960"/>
            <a:ext cx="2101291" cy="3246120"/>
          </a:xfrm>
          <a:prstGeom prst="roundRect">
            <a:avLst>
              <a:gd name="adj" fmla="val 870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7770571" y="2263139"/>
            <a:ext cx="1143000" cy="1143000"/>
          </a:xfrm>
          <a:prstGeom prst="ellipse">
            <a:avLst/>
          </a:prstGeom>
          <a:solidFill>
            <a:srgbClr val="453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0571" y="2263139"/>
            <a:ext cx="1143000" cy="1143000"/>
          </a:xfrm>
          <a:prstGeom prst="rect">
            <a:avLst/>
          </a:prstGeom>
          <a:noFill/>
        </p:spPr>
        <p:txBody>
          <a:bodyPr wrap="square" lIns="0" rIns="0" tIns="0" bIns="0" anchor="ctr">
            <a:noAutofit/>
          </a:bodyPr>
          <a:lstStyle/>
          <a:p>
            <a:pPr algn="ctr">
              <a:lnSpc>
                <a:spcPct val="100000"/>
              </a:lnSpc>
            </a:pPr>
            <a:r>
              <a:rPr b="1" i="0" sz="2750">
                <a:solidFill>
                  <a:srgbClr val="FFFFFF"/>
                </a:solidFill>
                <a:latin typeface="Poppins"/>
              </a:rPr>
              <a:t>TR</a:t>
            </a:r>
          </a:p>
        </p:txBody>
      </p:sp>
      <p:sp>
        <p:nvSpPr>
          <p:cNvPr id="33" name="TextBox 32"/>
          <p:cNvSpPr txBox="1"/>
          <p:nvPr/>
        </p:nvSpPr>
        <p:spPr>
          <a:xfrm>
            <a:off x="7401153" y="3566160"/>
            <a:ext cx="1881835" cy="685800"/>
          </a:xfrm>
          <a:prstGeom prst="rect">
            <a:avLst/>
          </a:prstGeom>
          <a:noFill/>
        </p:spPr>
        <p:txBody>
          <a:bodyPr wrap="square" lIns="0" rIns="0" tIns="0" bIns="0" anchor="ctr">
            <a:noAutofit/>
          </a:bodyPr>
          <a:lstStyle/>
          <a:p>
            <a:pPr algn="ctr">
              <a:lnSpc>
                <a:spcPct val="95000"/>
              </a:lnSpc>
            </a:pPr>
            <a:r>
              <a:rPr b="1" i="0" sz="1450">
                <a:solidFill>
                  <a:srgbClr val="000000"/>
                </a:solidFill>
                <a:latin typeface="Poppins"/>
              </a:rPr>
              <a:t>Tiago Rodrigues</a:t>
            </a:r>
          </a:p>
        </p:txBody>
      </p:sp>
      <p:sp>
        <p:nvSpPr>
          <p:cNvPr id="34" name="Rounded Rectangle 33"/>
          <p:cNvSpPr/>
          <p:nvPr/>
        </p:nvSpPr>
        <p:spPr>
          <a:xfrm>
            <a:off x="7754620" y="4343400"/>
            <a:ext cx="1174902" cy="329184"/>
          </a:xfrm>
          <a:prstGeom prst="roundRect">
            <a:avLst>
              <a:gd name="adj" fmla="val 50000"/>
            </a:avLst>
          </a:prstGeom>
          <a:solidFill>
            <a:srgbClr val="E5EA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754620" y="4343400"/>
            <a:ext cx="1174902" cy="329184"/>
          </a:xfrm>
          <a:prstGeom prst="rect">
            <a:avLst/>
          </a:prstGeom>
          <a:noFill/>
        </p:spPr>
        <p:txBody>
          <a:bodyPr wrap="square" lIns="0" rIns="0" tIns="0" bIns="0" anchor="ctr">
            <a:noAutofit/>
          </a:bodyPr>
          <a:lstStyle/>
          <a:p>
            <a:pPr algn="ctr">
              <a:lnSpc>
                <a:spcPct val="100000"/>
              </a:lnSpc>
            </a:pPr>
            <a:r>
              <a:rPr b="0" i="0" sz="950">
                <a:solidFill>
                  <a:srgbClr val="000000"/>
                </a:solidFill>
                <a:latin typeface="Poppins Medium"/>
              </a:rPr>
              <a:t>Co-organizer</a:t>
            </a:r>
          </a:p>
        </p:txBody>
      </p:sp>
      <p:sp>
        <p:nvSpPr>
          <p:cNvPr id="36" name="Rounded Rectangle 35"/>
          <p:cNvSpPr/>
          <p:nvPr/>
        </p:nvSpPr>
        <p:spPr>
          <a:xfrm>
            <a:off x="9539020" y="1965960"/>
            <a:ext cx="2101291" cy="3246120"/>
          </a:xfrm>
          <a:prstGeom prst="roundRect">
            <a:avLst>
              <a:gd name="adj" fmla="val 870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10018166" y="2263139"/>
            <a:ext cx="1143000" cy="1143000"/>
          </a:xfrm>
          <a:prstGeom prst="ellipse">
            <a:avLst/>
          </a:prstGeom>
          <a:solidFill>
            <a:srgbClr val="453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18166" y="2263139"/>
            <a:ext cx="1143000" cy="1143000"/>
          </a:xfrm>
          <a:prstGeom prst="rect">
            <a:avLst/>
          </a:prstGeom>
          <a:noFill/>
        </p:spPr>
        <p:txBody>
          <a:bodyPr wrap="square" lIns="0" rIns="0" tIns="0" bIns="0" anchor="ctr">
            <a:noAutofit/>
          </a:bodyPr>
          <a:lstStyle/>
          <a:p>
            <a:pPr algn="ctr">
              <a:lnSpc>
                <a:spcPct val="100000"/>
              </a:lnSpc>
            </a:pPr>
            <a:r>
              <a:rPr b="1" i="0" sz="2750">
                <a:solidFill>
                  <a:srgbClr val="FFFFFF"/>
                </a:solidFill>
                <a:latin typeface="Poppins"/>
              </a:rPr>
              <a:t>IF</a:t>
            </a:r>
          </a:p>
        </p:txBody>
      </p:sp>
      <p:sp>
        <p:nvSpPr>
          <p:cNvPr id="39" name="TextBox 38"/>
          <p:cNvSpPr txBox="1"/>
          <p:nvPr/>
        </p:nvSpPr>
        <p:spPr>
          <a:xfrm>
            <a:off x="9648748" y="3566160"/>
            <a:ext cx="1881835" cy="685800"/>
          </a:xfrm>
          <a:prstGeom prst="rect">
            <a:avLst/>
          </a:prstGeom>
          <a:noFill/>
        </p:spPr>
        <p:txBody>
          <a:bodyPr wrap="square" lIns="0" rIns="0" tIns="0" bIns="0" anchor="ctr">
            <a:noAutofit/>
          </a:bodyPr>
          <a:lstStyle/>
          <a:p>
            <a:pPr algn="ctr">
              <a:lnSpc>
                <a:spcPct val="95000"/>
              </a:lnSpc>
            </a:pPr>
            <a:r>
              <a:rPr b="1" i="0" sz="1450">
                <a:solidFill>
                  <a:srgbClr val="000000"/>
                </a:solidFill>
                <a:latin typeface="Poppins"/>
              </a:rPr>
              <a:t>Ivan Ferreira</a:t>
            </a:r>
          </a:p>
        </p:txBody>
      </p:sp>
      <p:sp>
        <p:nvSpPr>
          <p:cNvPr id="40" name="Rounded Rectangle 39"/>
          <p:cNvSpPr/>
          <p:nvPr/>
        </p:nvSpPr>
        <p:spPr>
          <a:xfrm>
            <a:off x="9900615" y="4343400"/>
            <a:ext cx="1378102" cy="329184"/>
          </a:xfrm>
          <a:prstGeom prst="roundRect">
            <a:avLst>
              <a:gd name="adj" fmla="val 50000"/>
            </a:avLst>
          </a:prstGeom>
          <a:solidFill>
            <a:srgbClr val="E5EA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900615" y="4343400"/>
            <a:ext cx="1378102" cy="329184"/>
          </a:xfrm>
          <a:prstGeom prst="rect">
            <a:avLst/>
          </a:prstGeom>
          <a:noFill/>
        </p:spPr>
        <p:txBody>
          <a:bodyPr wrap="square" lIns="0" rIns="0" tIns="0" bIns="0" anchor="ctr">
            <a:noAutofit/>
          </a:bodyPr>
          <a:lstStyle/>
          <a:p>
            <a:pPr algn="ctr">
              <a:lnSpc>
                <a:spcPct val="100000"/>
              </a:lnSpc>
            </a:pPr>
            <a:r>
              <a:rPr b="0" i="0" sz="950">
                <a:solidFill>
                  <a:srgbClr val="000000"/>
                </a:solidFill>
                <a:latin typeface="Poppins Medium"/>
              </a:rPr>
              <a:t>Leadership team</a:t>
            </a:r>
          </a:p>
        </p:txBody>
      </p:sp>
      <p:sp>
        <p:nvSpPr>
          <p:cNvPr id="42" name="TextBox 41"/>
          <p:cNvSpPr txBox="1"/>
          <p:nvPr/>
        </p:nvSpPr>
        <p:spPr>
          <a:xfrm>
            <a:off x="548640" y="5486400"/>
            <a:ext cx="11091672" cy="640080"/>
          </a:xfrm>
          <a:prstGeom prst="rect">
            <a:avLst/>
          </a:prstGeom>
          <a:noFill/>
        </p:spPr>
        <p:txBody>
          <a:bodyPr wrap="square" lIns="0" rIns="0" tIns="0" bIns="0" anchor="ctr">
            <a:noAutofit/>
          </a:bodyPr>
          <a:lstStyle/>
          <a:p>
            <a:pPr algn="ctr">
              <a:lnSpc>
                <a:spcPct val="100000"/>
              </a:lnSpc>
            </a:pPr>
            <a:r>
              <a:rPr b="0" i="0" sz="1300">
                <a:solidFill>
                  <a:srgbClr val="FFFFFF"/>
                </a:solidFill>
                <a:latin typeface="Poppins Medium"/>
              </a:rPr>
              <a:t>Come say hi during the break: feedback, talk ideas and venue offers are always welcome.</a:t>
            </a:r>
          </a:p>
        </p:txBody>
      </p:sp>
      <p:sp>
        <p:nvSpPr>
          <p:cNvPr id="43" name="TextBox 42"/>
          <p:cNvSpPr txBox="1"/>
          <p:nvPr/>
        </p:nvSpPr>
        <p:spPr>
          <a:xfrm>
            <a:off x="548640" y="6446520"/>
            <a:ext cx="8229600" cy="274320"/>
          </a:xfrm>
          <a:prstGeom prst="rect">
            <a:avLst/>
          </a:prstGeom>
          <a:noFill/>
        </p:spPr>
        <p:txBody>
          <a:bodyPr wrap="square" lIns="0" rIns="0" tIns="0" bIns="0" anchor="ctr">
            <a:noAutofit/>
          </a:bodyPr>
          <a:lstStyle/>
          <a:p>
            <a:pPr algn="l">
              <a:lnSpc>
                <a:spcPct val="100000"/>
              </a:lnSpc>
            </a:pPr>
            <a:r>
              <a:rPr b="0" i="0" sz="1050">
                <a:solidFill>
                  <a:srgbClr val="EDE9F7"/>
                </a:solidFill>
                <a:latin typeface="Poppins Medium"/>
              </a:rPr>
              <a:t>AWS User Group Porto  ×  OutSystems User Group Porto   ·   #8   ·   8 September 2026</a:t>
            </a:r>
          </a:p>
        </p:txBody>
      </p:sp>
      <p:sp>
        <p:nvSpPr>
          <p:cNvPr id="44" name="TextBox 43"/>
          <p:cNvSpPr txBox="1"/>
          <p:nvPr/>
        </p:nvSpPr>
        <p:spPr>
          <a:xfrm>
            <a:off x="10607040" y="6446520"/>
            <a:ext cx="1033271" cy="274320"/>
          </a:xfrm>
          <a:prstGeom prst="rect">
            <a:avLst/>
          </a:prstGeom>
          <a:noFill/>
        </p:spPr>
        <p:txBody>
          <a:bodyPr wrap="square" lIns="0" rIns="0" tIns="0" bIns="0" anchor="ctr">
            <a:noAutofit/>
          </a:bodyPr>
          <a:lstStyle/>
          <a:p>
            <a:pPr algn="r">
              <a:lnSpc>
                <a:spcPct val="100000"/>
              </a:lnSpc>
            </a:pPr>
            <a:r>
              <a:rPr b="0" i="0" sz="1050">
                <a:solidFill>
                  <a:srgbClr val="EDE9F7"/>
                </a:solidFill>
                <a:latin typeface="Poppins Medium"/>
              </a:rPr>
              <a:t>3 / 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30936" y="493776"/>
            <a:ext cx="4052570" cy="868680"/>
          </a:xfrm>
          <a:prstGeom prst="roundRect">
            <a:avLst>
              <a:gd name="adj" fmla="val 21052"/>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411480"/>
            <a:ext cx="4052570" cy="868680"/>
          </a:xfrm>
          <a:prstGeom prst="roundRect">
            <a:avLst>
              <a:gd name="adj" fmla="val 21052"/>
            </a:avLst>
          </a:prstGeom>
          <a:solidFill>
            <a:srgbClr val="FFFFFF"/>
          </a:solidFill>
          <a:ln w="317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411480"/>
            <a:ext cx="3503930" cy="868680"/>
          </a:xfrm>
          <a:prstGeom prst="rect">
            <a:avLst/>
          </a:prstGeom>
          <a:noFill/>
        </p:spPr>
        <p:txBody>
          <a:bodyPr wrap="square" lIns="0" rIns="0" tIns="0" bIns="0" anchor="ctr">
            <a:noAutofit/>
          </a:bodyPr>
          <a:lstStyle/>
          <a:p>
            <a:pPr algn="l">
              <a:lnSpc>
                <a:spcPct val="100000"/>
              </a:lnSpc>
            </a:pPr>
            <a:r>
              <a:rPr b="1" i="0" sz="3000">
                <a:solidFill>
                  <a:srgbClr val="000000"/>
                </a:solidFill>
                <a:latin typeface="Poppins"/>
              </a:rPr>
              <a:t>Speakers &amp; Talks</a:t>
            </a:r>
          </a:p>
        </p:txBody>
      </p:sp>
      <p:sp>
        <p:nvSpPr>
          <p:cNvPr id="6" name="Rounded Rectangle 5"/>
          <p:cNvSpPr/>
          <p:nvPr/>
        </p:nvSpPr>
        <p:spPr>
          <a:xfrm>
            <a:off x="548640" y="1508760"/>
            <a:ext cx="11091672" cy="2286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ricardo-pereira-31f3dd9bfe.png"/>
          <p:cNvPicPr>
            <a:picLocks noChangeAspect="1"/>
          </p:cNvPicPr>
          <p:nvPr/>
        </p:nvPicPr>
        <p:blipFill>
          <a:blip r:embed="rId3"/>
          <a:stretch>
            <a:fillRect/>
          </a:stretch>
        </p:blipFill>
        <p:spPr>
          <a:xfrm>
            <a:off x="777240" y="1737360"/>
            <a:ext cx="1508760" cy="1828800"/>
          </a:xfrm>
          <a:prstGeom prst="rect">
            <a:avLst/>
          </a:prstGeom>
        </p:spPr>
      </p:pic>
      <p:sp>
        <p:nvSpPr>
          <p:cNvPr id="8" name="Rounded Rectangle 7"/>
          <p:cNvSpPr/>
          <p:nvPr/>
        </p:nvSpPr>
        <p:spPr>
          <a:xfrm>
            <a:off x="2560320" y="1764792"/>
            <a:ext cx="693343" cy="292608"/>
          </a:xfrm>
          <a:prstGeom prst="roundRect">
            <a:avLst>
              <a:gd name="adj" fmla="val 50000"/>
            </a:avLst>
          </a:prstGeom>
          <a:solidFill>
            <a:srgbClr val="7B5A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560320" y="1764792"/>
            <a:ext cx="693343" cy="292608"/>
          </a:xfrm>
          <a:prstGeom prst="rect">
            <a:avLst/>
          </a:prstGeom>
          <a:noFill/>
        </p:spPr>
        <p:txBody>
          <a:bodyPr wrap="square" lIns="0" rIns="0" tIns="0" bIns="0" anchor="ctr">
            <a:noAutofit/>
          </a:bodyPr>
          <a:lstStyle/>
          <a:p>
            <a:pPr algn="ctr">
              <a:lnSpc>
                <a:spcPct val="100000"/>
              </a:lnSpc>
            </a:pPr>
            <a:r>
              <a:rPr b="1" i="0" sz="950">
                <a:solidFill>
                  <a:srgbClr val="FFFFFF"/>
                </a:solidFill>
                <a:latin typeface="Poppins"/>
              </a:rPr>
              <a:t>TALK 1</a:t>
            </a:r>
          </a:p>
        </p:txBody>
      </p:sp>
      <p:sp>
        <p:nvSpPr>
          <p:cNvPr id="10" name="TextBox 9"/>
          <p:cNvSpPr txBox="1"/>
          <p:nvPr/>
        </p:nvSpPr>
        <p:spPr>
          <a:xfrm>
            <a:off x="2560320" y="2130552"/>
            <a:ext cx="5943600" cy="685800"/>
          </a:xfrm>
          <a:prstGeom prst="rect">
            <a:avLst/>
          </a:prstGeom>
          <a:noFill/>
        </p:spPr>
        <p:txBody>
          <a:bodyPr wrap="square" lIns="0" rIns="0" tIns="0" bIns="0" anchor="t">
            <a:noAutofit/>
          </a:bodyPr>
          <a:lstStyle/>
          <a:p>
            <a:pPr algn="l">
              <a:lnSpc>
                <a:spcPct val="100000"/>
              </a:lnSpc>
            </a:pPr>
            <a:r>
              <a:rPr b="1" i="0" sz="1750">
                <a:solidFill>
                  <a:srgbClr val="000000"/>
                </a:solidFill>
                <a:latin typeface="Poppins"/>
              </a:rPr>
              <a:t>What is technical management in OutSystems</a:t>
            </a:r>
          </a:p>
        </p:txBody>
      </p:sp>
      <p:sp>
        <p:nvSpPr>
          <p:cNvPr id="11" name="TextBox 10"/>
          <p:cNvSpPr txBox="1"/>
          <p:nvPr/>
        </p:nvSpPr>
        <p:spPr>
          <a:xfrm>
            <a:off x="2560320" y="2807208"/>
            <a:ext cx="6035040" cy="914400"/>
          </a:xfrm>
          <a:prstGeom prst="rect">
            <a:avLst/>
          </a:prstGeom>
          <a:noFill/>
        </p:spPr>
        <p:txBody>
          <a:bodyPr wrap="square" lIns="0" rIns="0" tIns="0" bIns="0" anchor="t">
            <a:noAutofit/>
          </a:bodyPr>
          <a:lstStyle/>
          <a:p>
            <a:pPr algn="l">
              <a:lnSpc>
                <a:spcPct val="100000"/>
              </a:lnSpc>
            </a:pPr>
            <a:r>
              <a:rPr b="0" i="0" sz="1000">
                <a:solidFill>
                  <a:srgbClr val="3A3A4A"/>
                </a:solidFill>
                <a:latin typeface="Poppins"/>
              </a:rPr>
              <a:t>Faster development also means failing faster. Keeping an OutSystems ecosystem healthy, with sustainable technical debt and room to scale, takes deliberate technical leadership: implementation guidelines grounded in best practices, centers of excellence, and continuous training for everyone contributing to the ecosystem.</a:t>
            </a:r>
          </a:p>
        </p:txBody>
      </p:sp>
      <p:sp>
        <p:nvSpPr>
          <p:cNvPr id="12" name="Rounded Rectangle 11"/>
          <p:cNvSpPr/>
          <p:nvPr/>
        </p:nvSpPr>
        <p:spPr>
          <a:xfrm>
            <a:off x="8869680" y="1965960"/>
            <a:ext cx="1708327" cy="384048"/>
          </a:xfrm>
          <a:prstGeom prst="roundRect">
            <a:avLst>
              <a:gd name="adj" fmla="val 50000"/>
            </a:avLst>
          </a:prstGeom>
          <a:solidFill>
            <a:srgbClr val="453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869680" y="1965960"/>
            <a:ext cx="1708327" cy="384048"/>
          </a:xfrm>
          <a:prstGeom prst="rect">
            <a:avLst/>
          </a:prstGeom>
          <a:noFill/>
        </p:spPr>
        <p:txBody>
          <a:bodyPr wrap="square" lIns="0" rIns="0" tIns="0" bIns="0" anchor="ctr">
            <a:noAutofit/>
          </a:bodyPr>
          <a:lstStyle/>
          <a:p>
            <a:pPr algn="ctr">
              <a:lnSpc>
                <a:spcPct val="100000"/>
              </a:lnSpc>
            </a:pPr>
            <a:r>
              <a:rPr b="1" i="0" sz="1300">
                <a:solidFill>
                  <a:srgbClr val="FFFFFF"/>
                </a:solidFill>
                <a:latin typeface="Poppins"/>
              </a:rPr>
              <a:t>Ricardo Pereira</a:t>
            </a:r>
          </a:p>
        </p:txBody>
      </p:sp>
      <p:sp>
        <p:nvSpPr>
          <p:cNvPr id="14" name="TextBox 13"/>
          <p:cNvSpPr txBox="1"/>
          <p:nvPr/>
        </p:nvSpPr>
        <p:spPr>
          <a:xfrm>
            <a:off x="8869680" y="2468880"/>
            <a:ext cx="2606040" cy="822960"/>
          </a:xfrm>
          <a:prstGeom prst="rect">
            <a:avLst/>
          </a:prstGeom>
          <a:noFill/>
        </p:spPr>
        <p:txBody>
          <a:bodyPr wrap="square" lIns="0" rIns="0" tIns="0" bIns="0" anchor="t">
            <a:noAutofit/>
          </a:bodyPr>
          <a:lstStyle/>
          <a:p>
            <a:pPr algn="l">
              <a:lnSpc>
                <a:spcPct val="105000"/>
              </a:lnSpc>
            </a:pPr>
            <a:r>
              <a:rPr b="0" i="0" sz="1050">
                <a:solidFill>
                  <a:srgbClr val="000000"/>
                </a:solidFill>
                <a:latin typeface="Poppins Medium"/>
              </a:rPr>
              <a:t>OutSystems Factory Manager | Tech Lead</a:t>
            </a:r>
          </a:p>
        </p:txBody>
      </p:sp>
      <p:sp>
        <p:nvSpPr>
          <p:cNvPr id="15" name="Rounded Rectangle 14"/>
          <p:cNvSpPr/>
          <p:nvPr/>
        </p:nvSpPr>
        <p:spPr>
          <a:xfrm>
            <a:off x="548640" y="3977639"/>
            <a:ext cx="11091672" cy="2286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afael-arruda-b77e406ebb.png"/>
          <p:cNvPicPr>
            <a:picLocks noChangeAspect="1"/>
          </p:cNvPicPr>
          <p:nvPr/>
        </p:nvPicPr>
        <p:blipFill>
          <a:blip r:embed="rId4"/>
          <a:stretch>
            <a:fillRect/>
          </a:stretch>
        </p:blipFill>
        <p:spPr>
          <a:xfrm>
            <a:off x="777240" y="4206240"/>
            <a:ext cx="1508760" cy="1828800"/>
          </a:xfrm>
          <a:prstGeom prst="rect">
            <a:avLst/>
          </a:prstGeom>
        </p:spPr>
      </p:pic>
      <p:sp>
        <p:nvSpPr>
          <p:cNvPr id="17" name="Rounded Rectangle 16"/>
          <p:cNvSpPr/>
          <p:nvPr/>
        </p:nvSpPr>
        <p:spPr>
          <a:xfrm>
            <a:off x="2560320" y="4233672"/>
            <a:ext cx="715568" cy="292608"/>
          </a:xfrm>
          <a:prstGeom prst="roundRect">
            <a:avLst>
              <a:gd name="adj" fmla="val 50000"/>
            </a:avLst>
          </a:prstGeom>
          <a:solidFill>
            <a:srgbClr val="7B5A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560320" y="4233672"/>
            <a:ext cx="715568" cy="292608"/>
          </a:xfrm>
          <a:prstGeom prst="rect">
            <a:avLst/>
          </a:prstGeom>
          <a:noFill/>
        </p:spPr>
        <p:txBody>
          <a:bodyPr wrap="square" lIns="0" rIns="0" tIns="0" bIns="0" anchor="ctr">
            <a:noAutofit/>
          </a:bodyPr>
          <a:lstStyle/>
          <a:p>
            <a:pPr algn="ctr">
              <a:lnSpc>
                <a:spcPct val="100000"/>
              </a:lnSpc>
            </a:pPr>
            <a:r>
              <a:rPr b="1" i="0" sz="950">
                <a:solidFill>
                  <a:srgbClr val="FFFFFF"/>
                </a:solidFill>
                <a:latin typeface="Poppins"/>
              </a:rPr>
              <a:t>TALK 2</a:t>
            </a:r>
          </a:p>
        </p:txBody>
      </p:sp>
      <p:sp>
        <p:nvSpPr>
          <p:cNvPr id="19" name="TextBox 18"/>
          <p:cNvSpPr txBox="1"/>
          <p:nvPr/>
        </p:nvSpPr>
        <p:spPr>
          <a:xfrm>
            <a:off x="2560320" y="4599431"/>
            <a:ext cx="5943600" cy="685800"/>
          </a:xfrm>
          <a:prstGeom prst="rect">
            <a:avLst/>
          </a:prstGeom>
          <a:noFill/>
        </p:spPr>
        <p:txBody>
          <a:bodyPr wrap="square" lIns="0" rIns="0" tIns="0" bIns="0" anchor="t">
            <a:noAutofit/>
          </a:bodyPr>
          <a:lstStyle/>
          <a:p>
            <a:pPr algn="l">
              <a:lnSpc>
                <a:spcPct val="100000"/>
              </a:lnSpc>
            </a:pPr>
            <a:r>
              <a:rPr b="1" i="0" sz="1750">
                <a:solidFill>
                  <a:srgbClr val="000000"/>
                </a:solidFill>
                <a:latin typeface="Poppins"/>
              </a:rPr>
              <a:t>Building a Modern Event-Driven Data Platform with AWS &amp; Snowflake</a:t>
            </a:r>
          </a:p>
        </p:txBody>
      </p:sp>
      <p:sp>
        <p:nvSpPr>
          <p:cNvPr id="20" name="TextBox 19"/>
          <p:cNvSpPr txBox="1"/>
          <p:nvPr/>
        </p:nvSpPr>
        <p:spPr>
          <a:xfrm>
            <a:off x="2560320" y="5276088"/>
            <a:ext cx="6035040" cy="914400"/>
          </a:xfrm>
          <a:prstGeom prst="rect">
            <a:avLst/>
          </a:prstGeom>
          <a:noFill/>
        </p:spPr>
        <p:txBody>
          <a:bodyPr wrap="square" lIns="0" rIns="0" tIns="0" bIns="0" anchor="t">
            <a:noAutofit/>
          </a:bodyPr>
          <a:lstStyle/>
          <a:p>
            <a:pPr algn="l">
              <a:lnSpc>
                <a:spcPct val="100000"/>
              </a:lnSpc>
            </a:pPr>
            <a:r>
              <a:rPr b="0" i="0" sz="1000">
                <a:solidFill>
                  <a:srgbClr val="3A3A4A"/>
                </a:solidFill>
                <a:latin typeface="Poppins"/>
              </a:rPr>
              <a:t>A real-world architecture for a customer that needed fresh data every 2 to 5 minutes: an event-driven flow where the only scheduled component is the extraction from the source API. EventBridge, Lambda, Amazon S3 and SNS integrate with Snowflake through Snowpipe Streaming and Dynamic Tables, with the decisions, trade-offs and lessons learned in production.</a:t>
            </a:r>
          </a:p>
        </p:txBody>
      </p:sp>
      <p:sp>
        <p:nvSpPr>
          <p:cNvPr id="21" name="Rounded Rectangle 20"/>
          <p:cNvSpPr/>
          <p:nvPr/>
        </p:nvSpPr>
        <p:spPr>
          <a:xfrm>
            <a:off x="8869680" y="4434840"/>
            <a:ext cx="1587677" cy="384048"/>
          </a:xfrm>
          <a:prstGeom prst="roundRect">
            <a:avLst>
              <a:gd name="adj" fmla="val 50000"/>
            </a:avLst>
          </a:prstGeom>
          <a:solidFill>
            <a:srgbClr val="453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869680" y="4434840"/>
            <a:ext cx="1587677" cy="384048"/>
          </a:xfrm>
          <a:prstGeom prst="rect">
            <a:avLst/>
          </a:prstGeom>
          <a:noFill/>
        </p:spPr>
        <p:txBody>
          <a:bodyPr wrap="square" lIns="0" rIns="0" tIns="0" bIns="0" anchor="ctr">
            <a:noAutofit/>
          </a:bodyPr>
          <a:lstStyle/>
          <a:p>
            <a:pPr algn="ctr">
              <a:lnSpc>
                <a:spcPct val="100000"/>
              </a:lnSpc>
            </a:pPr>
            <a:r>
              <a:rPr b="1" i="0" sz="1300">
                <a:solidFill>
                  <a:srgbClr val="FFFFFF"/>
                </a:solidFill>
                <a:latin typeface="Poppins"/>
              </a:rPr>
              <a:t>Rafael Arruda</a:t>
            </a:r>
          </a:p>
        </p:txBody>
      </p:sp>
      <p:sp>
        <p:nvSpPr>
          <p:cNvPr id="23" name="TextBox 22"/>
          <p:cNvSpPr txBox="1"/>
          <p:nvPr/>
        </p:nvSpPr>
        <p:spPr>
          <a:xfrm>
            <a:off x="8869680" y="4937759"/>
            <a:ext cx="2606040" cy="822960"/>
          </a:xfrm>
          <a:prstGeom prst="rect">
            <a:avLst/>
          </a:prstGeom>
          <a:noFill/>
        </p:spPr>
        <p:txBody>
          <a:bodyPr wrap="square" lIns="0" rIns="0" tIns="0" bIns="0" anchor="t">
            <a:noAutofit/>
          </a:bodyPr>
          <a:lstStyle/>
          <a:p>
            <a:pPr algn="l">
              <a:lnSpc>
                <a:spcPct val="105000"/>
              </a:lnSpc>
            </a:pPr>
            <a:r>
              <a:rPr b="0" i="0" sz="1050">
                <a:solidFill>
                  <a:srgbClr val="000000"/>
                </a:solidFill>
                <a:latin typeface="Poppins Medium"/>
              </a:rPr>
              <a:t>Data Engineer at Best in Bi Solutions</a:t>
            </a:r>
          </a:p>
        </p:txBody>
      </p:sp>
      <p:sp>
        <p:nvSpPr>
          <p:cNvPr id="24" name="TextBox 23"/>
          <p:cNvSpPr txBox="1"/>
          <p:nvPr/>
        </p:nvSpPr>
        <p:spPr>
          <a:xfrm>
            <a:off x="548640" y="6446520"/>
            <a:ext cx="8229600" cy="274320"/>
          </a:xfrm>
          <a:prstGeom prst="rect">
            <a:avLst/>
          </a:prstGeom>
          <a:noFill/>
        </p:spPr>
        <p:txBody>
          <a:bodyPr wrap="square" lIns="0" rIns="0" tIns="0" bIns="0" anchor="ctr">
            <a:noAutofit/>
          </a:bodyPr>
          <a:lstStyle/>
          <a:p>
            <a:pPr algn="l">
              <a:lnSpc>
                <a:spcPct val="100000"/>
              </a:lnSpc>
            </a:pPr>
            <a:r>
              <a:rPr b="0" i="0" sz="1050">
                <a:solidFill>
                  <a:srgbClr val="EDE9F7"/>
                </a:solidFill>
                <a:latin typeface="Poppins Medium"/>
              </a:rPr>
              <a:t>AWS User Group Porto  ×  OutSystems User Group Porto   ·   #8   ·   8 September 2026</a:t>
            </a:r>
          </a:p>
        </p:txBody>
      </p:sp>
      <p:sp>
        <p:nvSpPr>
          <p:cNvPr id="25" name="TextBox 24"/>
          <p:cNvSpPr txBox="1"/>
          <p:nvPr/>
        </p:nvSpPr>
        <p:spPr>
          <a:xfrm>
            <a:off x="10607040" y="6446520"/>
            <a:ext cx="1033271" cy="274320"/>
          </a:xfrm>
          <a:prstGeom prst="rect">
            <a:avLst/>
          </a:prstGeom>
          <a:noFill/>
        </p:spPr>
        <p:txBody>
          <a:bodyPr wrap="square" lIns="0" rIns="0" tIns="0" bIns="0" anchor="ctr">
            <a:noAutofit/>
          </a:bodyPr>
          <a:lstStyle/>
          <a:p>
            <a:pPr algn="r">
              <a:lnSpc>
                <a:spcPct val="100000"/>
              </a:lnSpc>
            </a:pPr>
            <a:r>
              <a:rPr b="0" i="0" sz="1050">
                <a:solidFill>
                  <a:srgbClr val="EDE9F7"/>
                </a:solidFill>
                <a:latin typeface="Poppins Medium"/>
              </a:rPr>
              <a:t>4 / 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30936" y="493776"/>
            <a:ext cx="2271394" cy="868680"/>
          </a:xfrm>
          <a:prstGeom prst="roundRect">
            <a:avLst>
              <a:gd name="adj" fmla="val 21052"/>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411480"/>
            <a:ext cx="2271394" cy="868680"/>
          </a:xfrm>
          <a:prstGeom prst="roundRect">
            <a:avLst>
              <a:gd name="adj" fmla="val 21052"/>
            </a:avLst>
          </a:prstGeom>
          <a:solidFill>
            <a:srgbClr val="FFFFFF"/>
          </a:solidFill>
          <a:ln w="317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411480"/>
            <a:ext cx="1722754" cy="868680"/>
          </a:xfrm>
          <a:prstGeom prst="rect">
            <a:avLst/>
          </a:prstGeom>
          <a:noFill/>
        </p:spPr>
        <p:txBody>
          <a:bodyPr wrap="square" lIns="0" rIns="0" tIns="0" bIns="0" anchor="ctr">
            <a:noAutofit/>
          </a:bodyPr>
          <a:lstStyle/>
          <a:p>
            <a:pPr algn="l">
              <a:lnSpc>
                <a:spcPct val="100000"/>
              </a:lnSpc>
            </a:pPr>
            <a:r>
              <a:rPr b="1" i="0" sz="3000">
                <a:solidFill>
                  <a:srgbClr val="000000"/>
                </a:solidFill>
                <a:latin typeface="Poppins"/>
              </a:rPr>
              <a:t>Agenda</a:t>
            </a:r>
          </a:p>
        </p:txBody>
      </p:sp>
      <p:sp>
        <p:nvSpPr>
          <p:cNvPr id="6" name="Rounded Rectangle 5"/>
          <p:cNvSpPr/>
          <p:nvPr/>
        </p:nvSpPr>
        <p:spPr>
          <a:xfrm>
            <a:off x="548640" y="1508760"/>
            <a:ext cx="11091672" cy="4709160"/>
          </a:xfrm>
          <a:prstGeom prst="roundRect">
            <a:avLst>
              <a:gd name="adj" fmla="val 388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868680" y="1828800"/>
            <a:ext cx="1417320" cy="402336"/>
          </a:xfrm>
          <a:prstGeom prst="roundRect">
            <a:avLst>
              <a:gd name="adj" fmla="val 50000"/>
            </a:avLst>
          </a:prstGeom>
          <a:solidFill>
            <a:srgbClr val="453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8680" y="1828800"/>
            <a:ext cx="1417320" cy="402336"/>
          </a:xfrm>
          <a:prstGeom prst="rect">
            <a:avLst/>
          </a:prstGeom>
          <a:noFill/>
        </p:spPr>
        <p:txBody>
          <a:bodyPr wrap="square" lIns="0" rIns="0" tIns="0" bIns="0" anchor="ctr">
            <a:noAutofit/>
          </a:bodyPr>
          <a:lstStyle/>
          <a:p>
            <a:pPr algn="ctr">
              <a:lnSpc>
                <a:spcPct val="100000"/>
              </a:lnSpc>
            </a:pPr>
            <a:r>
              <a:rPr b="1" i="0" sz="1250">
                <a:solidFill>
                  <a:srgbClr val="FFFFFF"/>
                </a:solidFill>
                <a:latin typeface="Poppins"/>
              </a:rPr>
              <a:t>18:30</a:t>
            </a:r>
          </a:p>
        </p:txBody>
      </p:sp>
      <p:sp>
        <p:nvSpPr>
          <p:cNvPr id="9" name="TextBox 8"/>
          <p:cNvSpPr txBox="1"/>
          <p:nvPr/>
        </p:nvSpPr>
        <p:spPr>
          <a:xfrm>
            <a:off x="2560320" y="1737360"/>
            <a:ext cx="8869680" cy="457200"/>
          </a:xfrm>
          <a:prstGeom prst="rect">
            <a:avLst/>
          </a:prstGeom>
          <a:noFill/>
        </p:spPr>
        <p:txBody>
          <a:bodyPr wrap="square" lIns="0" rIns="0" tIns="0" bIns="0" anchor="ctr">
            <a:noAutofit/>
          </a:bodyPr>
          <a:lstStyle/>
          <a:p>
            <a:pPr algn="l">
              <a:lnSpc>
                <a:spcPct val="100000"/>
              </a:lnSpc>
            </a:pPr>
            <a:r>
              <a:rPr b="1" i="0" sz="1650">
                <a:solidFill>
                  <a:srgbClr val="000000"/>
                </a:solidFill>
                <a:latin typeface="Poppins"/>
              </a:rPr>
              <a:t>Check-in &amp; Networking</a:t>
            </a:r>
          </a:p>
        </p:txBody>
      </p:sp>
      <p:sp>
        <p:nvSpPr>
          <p:cNvPr id="10" name="Rectangle 9"/>
          <p:cNvSpPr/>
          <p:nvPr/>
        </p:nvSpPr>
        <p:spPr>
          <a:xfrm>
            <a:off x="2560320" y="2532888"/>
            <a:ext cx="8869680" cy="10972"/>
          </a:xfrm>
          <a:prstGeom prst="rect">
            <a:avLst/>
          </a:prstGeom>
          <a:solidFill>
            <a:srgbClr val="E5EA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868680" y="2679192"/>
            <a:ext cx="1417320" cy="402336"/>
          </a:xfrm>
          <a:prstGeom prst="roundRect">
            <a:avLst>
              <a:gd name="adj" fmla="val 50000"/>
            </a:avLst>
          </a:prstGeom>
          <a:solidFill>
            <a:srgbClr val="453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8680" y="2679192"/>
            <a:ext cx="1417320" cy="402336"/>
          </a:xfrm>
          <a:prstGeom prst="rect">
            <a:avLst/>
          </a:prstGeom>
          <a:noFill/>
        </p:spPr>
        <p:txBody>
          <a:bodyPr wrap="square" lIns="0" rIns="0" tIns="0" bIns="0" anchor="ctr">
            <a:noAutofit/>
          </a:bodyPr>
          <a:lstStyle/>
          <a:p>
            <a:pPr algn="ctr">
              <a:lnSpc>
                <a:spcPct val="100000"/>
              </a:lnSpc>
            </a:pPr>
            <a:r>
              <a:rPr b="1" i="0" sz="1250">
                <a:solidFill>
                  <a:srgbClr val="FFFFFF"/>
                </a:solidFill>
                <a:latin typeface="Poppins"/>
              </a:rPr>
              <a:t>19:00</a:t>
            </a:r>
          </a:p>
        </p:txBody>
      </p:sp>
      <p:sp>
        <p:nvSpPr>
          <p:cNvPr id="13" name="TextBox 12"/>
          <p:cNvSpPr txBox="1"/>
          <p:nvPr/>
        </p:nvSpPr>
        <p:spPr>
          <a:xfrm>
            <a:off x="2560320" y="2587752"/>
            <a:ext cx="8869680" cy="457200"/>
          </a:xfrm>
          <a:prstGeom prst="rect">
            <a:avLst/>
          </a:prstGeom>
          <a:noFill/>
        </p:spPr>
        <p:txBody>
          <a:bodyPr wrap="square" lIns="0" rIns="0" tIns="0" bIns="0" anchor="ctr">
            <a:noAutofit/>
          </a:bodyPr>
          <a:lstStyle/>
          <a:p>
            <a:pPr algn="l">
              <a:lnSpc>
                <a:spcPct val="100000"/>
              </a:lnSpc>
            </a:pPr>
            <a:r>
              <a:rPr b="1" i="0" sz="1650">
                <a:solidFill>
                  <a:srgbClr val="000000"/>
                </a:solidFill>
                <a:latin typeface="Poppins"/>
              </a:rPr>
              <a:t>Welcome &amp; Intros</a:t>
            </a:r>
          </a:p>
        </p:txBody>
      </p:sp>
      <p:sp>
        <p:nvSpPr>
          <p:cNvPr id="14" name="TextBox 13"/>
          <p:cNvSpPr txBox="1"/>
          <p:nvPr/>
        </p:nvSpPr>
        <p:spPr>
          <a:xfrm>
            <a:off x="2560320" y="3026664"/>
            <a:ext cx="8869680" cy="365760"/>
          </a:xfrm>
          <a:prstGeom prst="rect">
            <a:avLst/>
          </a:prstGeom>
          <a:noFill/>
        </p:spPr>
        <p:txBody>
          <a:bodyPr wrap="square" lIns="0" rIns="0" tIns="0" bIns="0" anchor="t">
            <a:noAutofit/>
          </a:bodyPr>
          <a:lstStyle/>
          <a:p>
            <a:pPr algn="l">
              <a:lnSpc>
                <a:spcPct val="100000"/>
              </a:lnSpc>
            </a:pPr>
            <a:r>
              <a:rPr b="0" i="0" sz="1100">
                <a:solidFill>
                  <a:srgbClr val="3A3A4A"/>
                </a:solidFill>
                <a:latin typeface="Poppins"/>
              </a:rPr>
              <a:t>AWS User Group Porto, OutSystems User Group Porto &amp; Partners</a:t>
            </a:r>
          </a:p>
        </p:txBody>
      </p:sp>
      <p:sp>
        <p:nvSpPr>
          <p:cNvPr id="15" name="Rectangle 14"/>
          <p:cNvSpPr/>
          <p:nvPr/>
        </p:nvSpPr>
        <p:spPr>
          <a:xfrm>
            <a:off x="2560320" y="3383280"/>
            <a:ext cx="8869680" cy="10972"/>
          </a:xfrm>
          <a:prstGeom prst="rect">
            <a:avLst/>
          </a:prstGeom>
          <a:solidFill>
            <a:srgbClr val="E5EA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68680" y="3529584"/>
            <a:ext cx="1417320" cy="402336"/>
          </a:xfrm>
          <a:prstGeom prst="roundRect">
            <a:avLst>
              <a:gd name="adj" fmla="val 50000"/>
            </a:avLst>
          </a:prstGeom>
          <a:solidFill>
            <a:srgbClr val="453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68680" y="3529584"/>
            <a:ext cx="1417320" cy="402336"/>
          </a:xfrm>
          <a:prstGeom prst="rect">
            <a:avLst/>
          </a:prstGeom>
          <a:noFill/>
        </p:spPr>
        <p:txBody>
          <a:bodyPr wrap="square" lIns="0" rIns="0" tIns="0" bIns="0" anchor="ctr">
            <a:noAutofit/>
          </a:bodyPr>
          <a:lstStyle/>
          <a:p>
            <a:pPr algn="ctr">
              <a:lnSpc>
                <a:spcPct val="100000"/>
              </a:lnSpc>
            </a:pPr>
            <a:r>
              <a:rPr b="1" i="0" sz="1250">
                <a:solidFill>
                  <a:srgbClr val="FFFFFF"/>
                </a:solidFill>
                <a:latin typeface="Poppins"/>
              </a:rPr>
              <a:t>Talk 1</a:t>
            </a:r>
          </a:p>
        </p:txBody>
      </p:sp>
      <p:sp>
        <p:nvSpPr>
          <p:cNvPr id="18" name="TextBox 17"/>
          <p:cNvSpPr txBox="1"/>
          <p:nvPr/>
        </p:nvSpPr>
        <p:spPr>
          <a:xfrm>
            <a:off x="2560320" y="3438144"/>
            <a:ext cx="8869680" cy="457200"/>
          </a:xfrm>
          <a:prstGeom prst="rect">
            <a:avLst/>
          </a:prstGeom>
          <a:noFill/>
        </p:spPr>
        <p:txBody>
          <a:bodyPr wrap="square" lIns="0" rIns="0" tIns="0" bIns="0" anchor="ctr">
            <a:noAutofit/>
          </a:bodyPr>
          <a:lstStyle/>
          <a:p>
            <a:pPr algn="l">
              <a:lnSpc>
                <a:spcPct val="100000"/>
              </a:lnSpc>
            </a:pPr>
            <a:r>
              <a:rPr b="1" i="0" sz="1650">
                <a:solidFill>
                  <a:srgbClr val="000000"/>
                </a:solidFill>
                <a:latin typeface="Poppins"/>
              </a:rPr>
              <a:t>What is technical management in OutSystems</a:t>
            </a:r>
          </a:p>
        </p:txBody>
      </p:sp>
      <p:sp>
        <p:nvSpPr>
          <p:cNvPr id="19" name="TextBox 18"/>
          <p:cNvSpPr txBox="1"/>
          <p:nvPr/>
        </p:nvSpPr>
        <p:spPr>
          <a:xfrm>
            <a:off x="2560320" y="3877056"/>
            <a:ext cx="8869680" cy="365760"/>
          </a:xfrm>
          <a:prstGeom prst="rect">
            <a:avLst/>
          </a:prstGeom>
          <a:noFill/>
        </p:spPr>
        <p:txBody>
          <a:bodyPr wrap="square" lIns="0" rIns="0" tIns="0" bIns="0" anchor="t">
            <a:noAutofit/>
          </a:bodyPr>
          <a:lstStyle/>
          <a:p>
            <a:pPr algn="l">
              <a:lnSpc>
                <a:spcPct val="100000"/>
              </a:lnSpc>
            </a:pPr>
            <a:r>
              <a:rPr b="0" i="0" sz="1100">
                <a:solidFill>
                  <a:srgbClr val="3A3A4A"/>
                </a:solidFill>
                <a:latin typeface="Poppins"/>
              </a:rPr>
              <a:t>Ricardo Pereira · OutSystems Factory Manager | Tech Lead</a:t>
            </a:r>
          </a:p>
        </p:txBody>
      </p:sp>
      <p:sp>
        <p:nvSpPr>
          <p:cNvPr id="20" name="Rectangle 19"/>
          <p:cNvSpPr/>
          <p:nvPr/>
        </p:nvSpPr>
        <p:spPr>
          <a:xfrm>
            <a:off x="2560320" y="4233672"/>
            <a:ext cx="8869680" cy="10972"/>
          </a:xfrm>
          <a:prstGeom prst="rect">
            <a:avLst/>
          </a:prstGeom>
          <a:solidFill>
            <a:srgbClr val="E5EA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68680" y="4379975"/>
            <a:ext cx="1417320" cy="402336"/>
          </a:xfrm>
          <a:prstGeom prst="roundRect">
            <a:avLst>
              <a:gd name="adj" fmla="val 50000"/>
            </a:avLst>
          </a:prstGeom>
          <a:solidFill>
            <a:srgbClr val="453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68680" y="4379975"/>
            <a:ext cx="1417320" cy="402336"/>
          </a:xfrm>
          <a:prstGeom prst="rect">
            <a:avLst/>
          </a:prstGeom>
          <a:noFill/>
        </p:spPr>
        <p:txBody>
          <a:bodyPr wrap="square" lIns="0" rIns="0" tIns="0" bIns="0" anchor="ctr">
            <a:noAutofit/>
          </a:bodyPr>
          <a:lstStyle/>
          <a:p>
            <a:pPr algn="ctr">
              <a:lnSpc>
                <a:spcPct val="100000"/>
              </a:lnSpc>
            </a:pPr>
            <a:r>
              <a:rPr b="1" i="0" sz="1250">
                <a:solidFill>
                  <a:srgbClr val="FFFFFF"/>
                </a:solidFill>
                <a:latin typeface="Poppins"/>
              </a:rPr>
              <a:t>Talk 2</a:t>
            </a:r>
          </a:p>
        </p:txBody>
      </p:sp>
      <p:sp>
        <p:nvSpPr>
          <p:cNvPr id="23" name="TextBox 22"/>
          <p:cNvSpPr txBox="1"/>
          <p:nvPr/>
        </p:nvSpPr>
        <p:spPr>
          <a:xfrm>
            <a:off x="2560320" y="4288536"/>
            <a:ext cx="8869680" cy="457200"/>
          </a:xfrm>
          <a:prstGeom prst="rect">
            <a:avLst/>
          </a:prstGeom>
          <a:noFill/>
        </p:spPr>
        <p:txBody>
          <a:bodyPr wrap="square" lIns="0" rIns="0" tIns="0" bIns="0" anchor="ctr">
            <a:noAutofit/>
          </a:bodyPr>
          <a:lstStyle/>
          <a:p>
            <a:pPr algn="l">
              <a:lnSpc>
                <a:spcPct val="100000"/>
              </a:lnSpc>
            </a:pPr>
            <a:r>
              <a:rPr b="1" i="0" sz="1650">
                <a:solidFill>
                  <a:srgbClr val="000000"/>
                </a:solidFill>
                <a:latin typeface="Poppins"/>
              </a:rPr>
              <a:t>Building a Modern Event-Driven Data Platform with AWS &amp; Snowflake</a:t>
            </a:r>
          </a:p>
        </p:txBody>
      </p:sp>
      <p:sp>
        <p:nvSpPr>
          <p:cNvPr id="24" name="TextBox 23"/>
          <p:cNvSpPr txBox="1"/>
          <p:nvPr/>
        </p:nvSpPr>
        <p:spPr>
          <a:xfrm>
            <a:off x="2560320" y="4727448"/>
            <a:ext cx="8869680" cy="365760"/>
          </a:xfrm>
          <a:prstGeom prst="rect">
            <a:avLst/>
          </a:prstGeom>
          <a:noFill/>
        </p:spPr>
        <p:txBody>
          <a:bodyPr wrap="square" lIns="0" rIns="0" tIns="0" bIns="0" anchor="t">
            <a:noAutofit/>
          </a:bodyPr>
          <a:lstStyle/>
          <a:p>
            <a:pPr algn="l">
              <a:lnSpc>
                <a:spcPct val="100000"/>
              </a:lnSpc>
            </a:pPr>
            <a:r>
              <a:rPr b="0" i="0" sz="1100">
                <a:solidFill>
                  <a:srgbClr val="3A3A4A"/>
                </a:solidFill>
                <a:latin typeface="Poppins"/>
              </a:rPr>
              <a:t>Rafael Arruda · Data Engineer at Best in Bi Solutions</a:t>
            </a:r>
          </a:p>
        </p:txBody>
      </p:sp>
      <p:sp>
        <p:nvSpPr>
          <p:cNvPr id="25" name="Rectangle 24"/>
          <p:cNvSpPr/>
          <p:nvPr/>
        </p:nvSpPr>
        <p:spPr>
          <a:xfrm>
            <a:off x="2560320" y="5084064"/>
            <a:ext cx="8869680" cy="10972"/>
          </a:xfrm>
          <a:prstGeom prst="rect">
            <a:avLst/>
          </a:prstGeom>
          <a:solidFill>
            <a:srgbClr val="E5EA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868680" y="5230368"/>
            <a:ext cx="1417320" cy="402336"/>
          </a:xfrm>
          <a:prstGeom prst="roundRect">
            <a:avLst>
              <a:gd name="adj" fmla="val 50000"/>
            </a:avLst>
          </a:prstGeom>
          <a:solidFill>
            <a:srgbClr val="453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5230368"/>
            <a:ext cx="1417320" cy="402336"/>
          </a:xfrm>
          <a:prstGeom prst="rect">
            <a:avLst/>
          </a:prstGeom>
          <a:noFill/>
        </p:spPr>
        <p:txBody>
          <a:bodyPr wrap="square" lIns="0" rIns="0" tIns="0" bIns="0" anchor="ctr">
            <a:noAutofit/>
          </a:bodyPr>
          <a:lstStyle/>
          <a:p>
            <a:pPr algn="ctr">
              <a:lnSpc>
                <a:spcPct val="100000"/>
              </a:lnSpc>
            </a:pPr>
            <a:r>
              <a:rPr b="1" i="0" sz="1250">
                <a:solidFill>
                  <a:srgbClr val="FFFFFF"/>
                </a:solidFill>
                <a:latin typeface="Poppins"/>
              </a:rPr>
              <a:t>20:30+</a:t>
            </a:r>
          </a:p>
        </p:txBody>
      </p:sp>
      <p:sp>
        <p:nvSpPr>
          <p:cNvPr id="28" name="TextBox 27"/>
          <p:cNvSpPr txBox="1"/>
          <p:nvPr/>
        </p:nvSpPr>
        <p:spPr>
          <a:xfrm>
            <a:off x="2560320" y="5138928"/>
            <a:ext cx="8869680" cy="457200"/>
          </a:xfrm>
          <a:prstGeom prst="rect">
            <a:avLst/>
          </a:prstGeom>
          <a:noFill/>
        </p:spPr>
        <p:txBody>
          <a:bodyPr wrap="square" lIns="0" rIns="0" tIns="0" bIns="0" anchor="ctr">
            <a:noAutofit/>
          </a:bodyPr>
          <a:lstStyle/>
          <a:p>
            <a:pPr algn="l">
              <a:lnSpc>
                <a:spcPct val="100000"/>
              </a:lnSpc>
            </a:pPr>
            <a:r>
              <a:rPr b="1" i="0" sz="1650">
                <a:solidFill>
                  <a:srgbClr val="000000"/>
                </a:solidFill>
                <a:latin typeface="Poppins"/>
              </a:rPr>
              <a:t>Catering, drinks &amp; community networking</a:t>
            </a:r>
          </a:p>
        </p:txBody>
      </p:sp>
      <p:sp>
        <p:nvSpPr>
          <p:cNvPr id="29" name="TextBox 28"/>
          <p:cNvSpPr txBox="1"/>
          <p:nvPr/>
        </p:nvSpPr>
        <p:spPr>
          <a:xfrm>
            <a:off x="2560320" y="5577840"/>
            <a:ext cx="8869680" cy="365760"/>
          </a:xfrm>
          <a:prstGeom prst="rect">
            <a:avLst/>
          </a:prstGeom>
          <a:noFill/>
        </p:spPr>
        <p:txBody>
          <a:bodyPr wrap="square" lIns="0" rIns="0" tIns="0" bIns="0" anchor="t">
            <a:noAutofit/>
          </a:bodyPr>
          <a:lstStyle/>
          <a:p>
            <a:pPr algn="l">
              <a:lnSpc>
                <a:spcPct val="100000"/>
              </a:lnSpc>
            </a:pPr>
            <a:r>
              <a:rPr b="0" i="0" sz="1100">
                <a:solidFill>
                  <a:srgbClr val="3A3A4A"/>
                </a:solidFill>
                <a:latin typeface="Poppins"/>
              </a:rPr>
              <a:t>KCD Porto ticket raffle: the winner is drawn at the end of the meetup</a:t>
            </a:r>
          </a:p>
        </p:txBody>
      </p:sp>
      <p:sp>
        <p:nvSpPr>
          <p:cNvPr id="30" name="TextBox 29"/>
          <p:cNvSpPr txBox="1"/>
          <p:nvPr/>
        </p:nvSpPr>
        <p:spPr>
          <a:xfrm>
            <a:off x="548640" y="6446520"/>
            <a:ext cx="8229600" cy="274320"/>
          </a:xfrm>
          <a:prstGeom prst="rect">
            <a:avLst/>
          </a:prstGeom>
          <a:noFill/>
        </p:spPr>
        <p:txBody>
          <a:bodyPr wrap="square" lIns="0" rIns="0" tIns="0" bIns="0" anchor="ctr">
            <a:noAutofit/>
          </a:bodyPr>
          <a:lstStyle/>
          <a:p>
            <a:pPr algn="l">
              <a:lnSpc>
                <a:spcPct val="100000"/>
              </a:lnSpc>
            </a:pPr>
            <a:r>
              <a:rPr b="0" i="0" sz="1050">
                <a:solidFill>
                  <a:srgbClr val="EDE9F7"/>
                </a:solidFill>
                <a:latin typeface="Poppins Medium"/>
              </a:rPr>
              <a:t>AWS User Group Porto  ×  OutSystems User Group Porto   ·   #8   ·   8 September 2026</a:t>
            </a:r>
          </a:p>
        </p:txBody>
      </p:sp>
      <p:sp>
        <p:nvSpPr>
          <p:cNvPr id="31" name="TextBox 30"/>
          <p:cNvSpPr txBox="1"/>
          <p:nvPr/>
        </p:nvSpPr>
        <p:spPr>
          <a:xfrm>
            <a:off x="10607040" y="6446520"/>
            <a:ext cx="1033271" cy="274320"/>
          </a:xfrm>
          <a:prstGeom prst="rect">
            <a:avLst/>
          </a:prstGeom>
          <a:noFill/>
        </p:spPr>
        <p:txBody>
          <a:bodyPr wrap="square" lIns="0" rIns="0" tIns="0" bIns="0" anchor="ctr">
            <a:noAutofit/>
          </a:bodyPr>
          <a:lstStyle/>
          <a:p>
            <a:pPr algn="r">
              <a:lnSpc>
                <a:spcPct val="100000"/>
              </a:lnSpc>
            </a:pPr>
            <a:r>
              <a:rPr b="0" i="0" sz="1050">
                <a:solidFill>
                  <a:srgbClr val="EDE9F7"/>
                </a:solidFill>
                <a:latin typeface="Poppins Medium"/>
              </a:rPr>
              <a:t>5 /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30936" y="493776"/>
            <a:ext cx="6030595" cy="868680"/>
          </a:xfrm>
          <a:prstGeom prst="roundRect">
            <a:avLst>
              <a:gd name="adj" fmla="val 21052"/>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411480"/>
            <a:ext cx="6030595" cy="868680"/>
          </a:xfrm>
          <a:prstGeom prst="roundRect">
            <a:avLst>
              <a:gd name="adj" fmla="val 21052"/>
            </a:avLst>
          </a:prstGeom>
          <a:solidFill>
            <a:srgbClr val="FFFFFF"/>
          </a:solidFill>
          <a:ln w="317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411480"/>
            <a:ext cx="5481955" cy="868680"/>
          </a:xfrm>
          <a:prstGeom prst="rect">
            <a:avLst/>
          </a:prstGeom>
          <a:noFill/>
        </p:spPr>
        <p:txBody>
          <a:bodyPr wrap="square" lIns="0" rIns="0" tIns="0" bIns="0" anchor="ctr">
            <a:noAutofit/>
          </a:bodyPr>
          <a:lstStyle/>
          <a:p>
            <a:pPr algn="l">
              <a:lnSpc>
                <a:spcPct val="100000"/>
              </a:lnSpc>
            </a:pPr>
            <a:r>
              <a:rPr b="1" i="0" sz="3000">
                <a:solidFill>
                  <a:srgbClr val="000000"/>
                </a:solidFill>
                <a:latin typeface="Poppins"/>
              </a:rPr>
              <a:t>Sponsors &amp; Meetup Partner</a:t>
            </a:r>
          </a:p>
        </p:txBody>
      </p:sp>
      <p:sp>
        <p:nvSpPr>
          <p:cNvPr id="6" name="TextBox 5"/>
          <p:cNvSpPr txBox="1"/>
          <p:nvPr/>
        </p:nvSpPr>
        <p:spPr>
          <a:xfrm>
            <a:off x="548640" y="1481328"/>
            <a:ext cx="5486400" cy="274320"/>
          </a:xfrm>
          <a:prstGeom prst="rect">
            <a:avLst/>
          </a:prstGeom>
          <a:noFill/>
        </p:spPr>
        <p:txBody>
          <a:bodyPr wrap="square" lIns="0" rIns="0" tIns="0" bIns="0" anchor="ctr">
            <a:noAutofit/>
          </a:bodyPr>
          <a:lstStyle/>
          <a:p>
            <a:pPr algn="l">
              <a:lnSpc>
                <a:spcPct val="100000"/>
              </a:lnSpc>
            </a:pPr>
            <a:r>
              <a:rPr b="1" i="0" sz="1100" spc="150">
                <a:solidFill>
                  <a:srgbClr val="FFFFFF"/>
                </a:solidFill>
                <a:latin typeface="Poppins"/>
              </a:rPr>
              <a:t>SPONSORS</a:t>
            </a:r>
          </a:p>
        </p:txBody>
      </p:sp>
      <p:sp>
        <p:nvSpPr>
          <p:cNvPr id="7" name="Rounded Rectangle 6"/>
          <p:cNvSpPr/>
          <p:nvPr/>
        </p:nvSpPr>
        <p:spPr>
          <a:xfrm>
            <a:off x="548640" y="1828800"/>
            <a:ext cx="3474720" cy="2880360"/>
          </a:xfrm>
          <a:prstGeom prst="roundRect">
            <a:avLst>
              <a:gd name="adj" fmla="val 634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va-coworking.png"/>
          <p:cNvPicPr>
            <a:picLocks noChangeAspect="1"/>
          </p:cNvPicPr>
          <p:nvPr/>
        </p:nvPicPr>
        <p:blipFill>
          <a:blip r:embed="rId3"/>
          <a:stretch>
            <a:fillRect/>
          </a:stretch>
        </p:blipFill>
        <p:spPr>
          <a:xfrm>
            <a:off x="1453486" y="2103120"/>
            <a:ext cx="1665027" cy="1325880"/>
          </a:xfrm>
          <a:prstGeom prst="rect">
            <a:avLst/>
          </a:prstGeom>
        </p:spPr>
      </p:pic>
      <p:sp>
        <p:nvSpPr>
          <p:cNvPr id="9" name="Rounded Rectangle 8"/>
          <p:cNvSpPr/>
          <p:nvPr/>
        </p:nvSpPr>
        <p:spPr>
          <a:xfrm>
            <a:off x="1620761" y="3611880"/>
            <a:ext cx="1330477" cy="329184"/>
          </a:xfrm>
          <a:prstGeom prst="roundRect">
            <a:avLst>
              <a:gd name="adj" fmla="val 50000"/>
            </a:avLst>
          </a:prstGeom>
          <a:solidFill>
            <a:srgbClr val="453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620761" y="3611880"/>
            <a:ext cx="1330477" cy="329184"/>
          </a:xfrm>
          <a:prstGeom prst="rect">
            <a:avLst/>
          </a:prstGeom>
          <a:noFill/>
        </p:spPr>
        <p:txBody>
          <a:bodyPr wrap="square" lIns="0" rIns="0" tIns="0" bIns="0" anchor="ctr">
            <a:noAutofit/>
          </a:bodyPr>
          <a:lstStyle/>
          <a:p>
            <a:pPr algn="ctr">
              <a:lnSpc>
                <a:spcPct val="100000"/>
              </a:lnSpc>
            </a:pPr>
            <a:r>
              <a:rPr b="1" i="0" sz="1000">
                <a:solidFill>
                  <a:srgbClr val="FFFFFF"/>
                </a:solidFill>
                <a:latin typeface="Poppins"/>
              </a:rPr>
              <a:t>Venue sponsor</a:t>
            </a:r>
          </a:p>
        </p:txBody>
      </p:sp>
      <p:sp>
        <p:nvSpPr>
          <p:cNvPr id="11" name="TextBox 10"/>
          <p:cNvSpPr txBox="1"/>
          <p:nvPr/>
        </p:nvSpPr>
        <p:spPr>
          <a:xfrm>
            <a:off x="731520" y="4023360"/>
            <a:ext cx="3108960" cy="594360"/>
          </a:xfrm>
          <a:prstGeom prst="rect">
            <a:avLst/>
          </a:prstGeom>
          <a:noFill/>
        </p:spPr>
        <p:txBody>
          <a:bodyPr wrap="square" lIns="0" rIns="0" tIns="0" bIns="0" anchor="ctr">
            <a:noAutofit/>
          </a:bodyPr>
          <a:lstStyle/>
          <a:p>
            <a:pPr algn="ctr">
              <a:lnSpc>
                <a:spcPct val="100000"/>
              </a:lnSpc>
            </a:pPr>
            <a:r>
              <a:rPr b="0" i="0" sz="1200">
                <a:solidFill>
                  <a:srgbClr val="000000"/>
                </a:solidFill>
                <a:latin typeface="Poppins Medium"/>
              </a:rPr>
              <a:t>VA Coworking · Vertical Dom Henrique, Porto</a:t>
            </a:r>
          </a:p>
        </p:txBody>
      </p:sp>
      <p:sp>
        <p:nvSpPr>
          <p:cNvPr id="12" name="Rounded Rectangle 11"/>
          <p:cNvSpPr/>
          <p:nvPr/>
        </p:nvSpPr>
        <p:spPr>
          <a:xfrm>
            <a:off x="4251959" y="1828800"/>
            <a:ext cx="3474720" cy="2880360"/>
          </a:xfrm>
          <a:prstGeom prst="roundRect">
            <a:avLst>
              <a:gd name="adj" fmla="val 634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synvert-xgeeks.png"/>
          <p:cNvPicPr>
            <a:picLocks noChangeAspect="1"/>
          </p:cNvPicPr>
          <p:nvPr/>
        </p:nvPicPr>
        <p:blipFill>
          <a:blip r:embed="rId4"/>
          <a:stretch>
            <a:fillRect/>
          </a:stretch>
        </p:blipFill>
        <p:spPr>
          <a:xfrm>
            <a:off x="4571999" y="2178145"/>
            <a:ext cx="2834639" cy="1175829"/>
          </a:xfrm>
          <a:prstGeom prst="rect">
            <a:avLst/>
          </a:prstGeom>
        </p:spPr>
      </p:pic>
      <p:sp>
        <p:nvSpPr>
          <p:cNvPr id="14" name="Rounded Rectangle 13"/>
          <p:cNvSpPr/>
          <p:nvPr/>
        </p:nvSpPr>
        <p:spPr>
          <a:xfrm>
            <a:off x="5371706" y="3611880"/>
            <a:ext cx="1235227" cy="329184"/>
          </a:xfrm>
          <a:prstGeom prst="roundRect">
            <a:avLst>
              <a:gd name="adj" fmla="val 50000"/>
            </a:avLst>
          </a:prstGeom>
          <a:solidFill>
            <a:srgbClr val="453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371706" y="3611880"/>
            <a:ext cx="1235227" cy="329184"/>
          </a:xfrm>
          <a:prstGeom prst="rect">
            <a:avLst/>
          </a:prstGeom>
          <a:noFill/>
        </p:spPr>
        <p:txBody>
          <a:bodyPr wrap="square" lIns="0" rIns="0" tIns="0" bIns="0" anchor="ctr">
            <a:noAutofit/>
          </a:bodyPr>
          <a:lstStyle/>
          <a:p>
            <a:pPr algn="ctr">
              <a:lnSpc>
                <a:spcPct val="100000"/>
              </a:lnSpc>
            </a:pPr>
            <a:r>
              <a:rPr b="1" i="0" sz="1000">
                <a:solidFill>
                  <a:srgbClr val="FFFFFF"/>
                </a:solidFill>
                <a:latin typeface="Poppins"/>
              </a:rPr>
              <a:t>Main sponsor</a:t>
            </a:r>
          </a:p>
        </p:txBody>
      </p:sp>
      <p:sp>
        <p:nvSpPr>
          <p:cNvPr id="16" name="TextBox 15"/>
          <p:cNvSpPr txBox="1"/>
          <p:nvPr/>
        </p:nvSpPr>
        <p:spPr>
          <a:xfrm>
            <a:off x="4434840" y="4023360"/>
            <a:ext cx="3108960" cy="594360"/>
          </a:xfrm>
          <a:prstGeom prst="rect">
            <a:avLst/>
          </a:prstGeom>
          <a:noFill/>
        </p:spPr>
        <p:txBody>
          <a:bodyPr wrap="square" lIns="0" rIns="0" tIns="0" bIns="0" anchor="ctr">
            <a:noAutofit/>
          </a:bodyPr>
          <a:lstStyle/>
          <a:p>
            <a:pPr algn="ctr">
              <a:lnSpc>
                <a:spcPct val="100000"/>
              </a:lnSpc>
            </a:pPr>
            <a:r>
              <a:rPr b="0" i="0" sz="1200">
                <a:solidFill>
                  <a:srgbClr val="000000"/>
                </a:solidFill>
                <a:latin typeface="Poppins Medium"/>
              </a:rPr>
              <a:t>synvert xgeeks · continuous support of the community</a:t>
            </a:r>
          </a:p>
        </p:txBody>
      </p:sp>
      <p:sp>
        <p:nvSpPr>
          <p:cNvPr id="17" name="Rectangle 16"/>
          <p:cNvSpPr/>
          <p:nvPr/>
        </p:nvSpPr>
        <p:spPr>
          <a:xfrm>
            <a:off x="7973568" y="1481328"/>
            <a:ext cx="12801" cy="3227832"/>
          </a:xfrm>
          <a:prstGeom prst="rect">
            <a:avLst/>
          </a:prstGeom>
          <a:solidFill>
            <a:srgbClr val="EDE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600" y="1481328"/>
            <a:ext cx="3474720" cy="274320"/>
          </a:xfrm>
          <a:prstGeom prst="rect">
            <a:avLst/>
          </a:prstGeom>
          <a:noFill/>
        </p:spPr>
        <p:txBody>
          <a:bodyPr wrap="square" lIns="0" rIns="0" tIns="0" bIns="0" anchor="ctr">
            <a:noAutofit/>
          </a:bodyPr>
          <a:lstStyle/>
          <a:p>
            <a:pPr algn="l">
              <a:lnSpc>
                <a:spcPct val="100000"/>
              </a:lnSpc>
            </a:pPr>
            <a:r>
              <a:rPr b="1" i="0" sz="1100" spc="150">
                <a:solidFill>
                  <a:srgbClr val="FFFFFF"/>
                </a:solidFill>
                <a:latin typeface="Poppins"/>
              </a:rPr>
              <a:t>MEETUP PARTNER</a:t>
            </a:r>
          </a:p>
        </p:txBody>
      </p:sp>
      <p:sp>
        <p:nvSpPr>
          <p:cNvPr id="19" name="Rounded Rectangle 18"/>
          <p:cNvSpPr/>
          <p:nvPr/>
        </p:nvSpPr>
        <p:spPr>
          <a:xfrm>
            <a:off x="8229600" y="1828800"/>
            <a:ext cx="3410712" cy="2880360"/>
          </a:xfrm>
          <a:prstGeom prst="roundRect">
            <a:avLst>
              <a:gd name="adj" fmla="val 634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outsystems-user-groups.png"/>
          <p:cNvPicPr>
            <a:picLocks noChangeAspect="1"/>
          </p:cNvPicPr>
          <p:nvPr/>
        </p:nvPicPr>
        <p:blipFill>
          <a:blip r:embed="rId5"/>
          <a:stretch>
            <a:fillRect/>
          </a:stretch>
        </p:blipFill>
        <p:spPr>
          <a:xfrm>
            <a:off x="8549640" y="2374776"/>
            <a:ext cx="2770632" cy="782566"/>
          </a:xfrm>
          <a:prstGeom prst="rect">
            <a:avLst/>
          </a:prstGeom>
        </p:spPr>
      </p:pic>
      <p:sp>
        <p:nvSpPr>
          <p:cNvPr id="21" name="Rounded Rectangle 20"/>
          <p:cNvSpPr/>
          <p:nvPr/>
        </p:nvSpPr>
        <p:spPr>
          <a:xfrm>
            <a:off x="9249079" y="3611880"/>
            <a:ext cx="1371752" cy="329184"/>
          </a:xfrm>
          <a:prstGeom prst="roundRect">
            <a:avLst>
              <a:gd name="adj" fmla="val 50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249079" y="3611880"/>
            <a:ext cx="1371752" cy="329184"/>
          </a:xfrm>
          <a:prstGeom prst="rect">
            <a:avLst/>
          </a:prstGeom>
          <a:noFill/>
        </p:spPr>
        <p:txBody>
          <a:bodyPr wrap="square" lIns="0" rIns="0" tIns="0" bIns="0" anchor="ctr">
            <a:noAutofit/>
          </a:bodyPr>
          <a:lstStyle/>
          <a:p>
            <a:pPr algn="ctr">
              <a:lnSpc>
                <a:spcPct val="100000"/>
              </a:lnSpc>
            </a:pPr>
            <a:r>
              <a:rPr b="1" i="0" sz="1000">
                <a:solidFill>
                  <a:srgbClr val="FFFFFF"/>
                </a:solidFill>
                <a:latin typeface="Poppins"/>
              </a:rPr>
              <a:t>Meetup partner</a:t>
            </a:r>
          </a:p>
        </p:txBody>
      </p:sp>
      <p:sp>
        <p:nvSpPr>
          <p:cNvPr id="23" name="TextBox 22"/>
          <p:cNvSpPr txBox="1"/>
          <p:nvPr/>
        </p:nvSpPr>
        <p:spPr>
          <a:xfrm>
            <a:off x="8412480" y="4023360"/>
            <a:ext cx="3044952" cy="594360"/>
          </a:xfrm>
          <a:prstGeom prst="rect">
            <a:avLst/>
          </a:prstGeom>
          <a:noFill/>
        </p:spPr>
        <p:txBody>
          <a:bodyPr wrap="square" lIns="0" rIns="0" tIns="0" bIns="0" anchor="ctr">
            <a:noAutofit/>
          </a:bodyPr>
          <a:lstStyle/>
          <a:p>
            <a:pPr algn="ctr">
              <a:lnSpc>
                <a:spcPct val="100000"/>
              </a:lnSpc>
            </a:pPr>
            <a:r>
              <a:rPr b="0" i="0" sz="1200">
                <a:solidFill>
                  <a:srgbClr val="000000"/>
                </a:solidFill>
                <a:latin typeface="Poppins Medium"/>
              </a:rPr>
              <a:t>OutSystems User Group Porto</a:t>
            </a:r>
          </a:p>
        </p:txBody>
      </p:sp>
      <p:sp>
        <p:nvSpPr>
          <p:cNvPr id="24" name="TextBox 23"/>
          <p:cNvSpPr txBox="1"/>
          <p:nvPr/>
        </p:nvSpPr>
        <p:spPr>
          <a:xfrm>
            <a:off x="548640" y="4983480"/>
            <a:ext cx="11091672" cy="1188720"/>
          </a:xfrm>
          <a:prstGeom prst="rect">
            <a:avLst/>
          </a:prstGeom>
          <a:noFill/>
        </p:spPr>
        <p:txBody>
          <a:bodyPr wrap="square" lIns="0" rIns="0" tIns="0" bIns="0" anchor="ctr">
            <a:noAutofit/>
          </a:bodyPr>
          <a:lstStyle/>
          <a:p>
            <a:pPr algn="ctr">
              <a:lnSpc>
                <a:spcPct val="110000"/>
              </a:lnSpc>
            </a:pPr>
            <a:r>
              <a:rPr b="0" i="0" sz="1450">
                <a:solidFill>
                  <a:srgbClr val="FFFFFF"/>
                </a:solidFill>
                <a:latin typeface="Poppins Medium"/>
              </a:rPr>
              <a:t>A huge thank you to VA Coworking for hosting us, synvert xgeeks for the continuous support, and to OutSystems User Group Porto for making this joint edition happen!</a:t>
            </a:r>
          </a:p>
        </p:txBody>
      </p:sp>
      <p:sp>
        <p:nvSpPr>
          <p:cNvPr id="25" name="TextBox 24"/>
          <p:cNvSpPr txBox="1"/>
          <p:nvPr/>
        </p:nvSpPr>
        <p:spPr>
          <a:xfrm>
            <a:off x="548640" y="6446520"/>
            <a:ext cx="8229600" cy="274320"/>
          </a:xfrm>
          <a:prstGeom prst="rect">
            <a:avLst/>
          </a:prstGeom>
          <a:noFill/>
        </p:spPr>
        <p:txBody>
          <a:bodyPr wrap="square" lIns="0" rIns="0" tIns="0" bIns="0" anchor="ctr">
            <a:noAutofit/>
          </a:bodyPr>
          <a:lstStyle/>
          <a:p>
            <a:pPr algn="l">
              <a:lnSpc>
                <a:spcPct val="100000"/>
              </a:lnSpc>
            </a:pPr>
            <a:r>
              <a:rPr b="0" i="0" sz="1050">
                <a:solidFill>
                  <a:srgbClr val="EDE9F7"/>
                </a:solidFill>
                <a:latin typeface="Poppins Medium"/>
              </a:rPr>
              <a:t>AWS User Group Porto  ×  OutSystems User Group Porto   ·   #8   ·   8 September 2026</a:t>
            </a:r>
          </a:p>
        </p:txBody>
      </p:sp>
      <p:sp>
        <p:nvSpPr>
          <p:cNvPr id="26" name="TextBox 25"/>
          <p:cNvSpPr txBox="1"/>
          <p:nvPr/>
        </p:nvSpPr>
        <p:spPr>
          <a:xfrm>
            <a:off x="10607040" y="6446520"/>
            <a:ext cx="1033271" cy="274320"/>
          </a:xfrm>
          <a:prstGeom prst="rect">
            <a:avLst/>
          </a:prstGeom>
          <a:noFill/>
        </p:spPr>
        <p:txBody>
          <a:bodyPr wrap="square" lIns="0" rIns="0" tIns="0" bIns="0" anchor="ctr">
            <a:noAutofit/>
          </a:bodyPr>
          <a:lstStyle/>
          <a:p>
            <a:pPr algn="r">
              <a:lnSpc>
                <a:spcPct val="100000"/>
              </a:lnSpc>
            </a:pPr>
            <a:r>
              <a:rPr b="0" i="0" sz="1050">
                <a:solidFill>
                  <a:srgbClr val="EDE9F7"/>
                </a:solidFill>
                <a:latin typeface="Poppins Medium"/>
              </a:rPr>
              <a:t>6 /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30936" y="493776"/>
            <a:ext cx="7414895" cy="868680"/>
          </a:xfrm>
          <a:prstGeom prst="roundRect">
            <a:avLst>
              <a:gd name="adj" fmla="val 21052"/>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411480"/>
            <a:ext cx="7414895" cy="868680"/>
          </a:xfrm>
          <a:prstGeom prst="roundRect">
            <a:avLst>
              <a:gd name="adj" fmla="val 21052"/>
            </a:avLst>
          </a:prstGeom>
          <a:solidFill>
            <a:srgbClr val="FFFFFF"/>
          </a:solidFill>
          <a:ln w="317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411480"/>
            <a:ext cx="6866255" cy="868680"/>
          </a:xfrm>
          <a:prstGeom prst="rect">
            <a:avLst/>
          </a:prstGeom>
          <a:noFill/>
        </p:spPr>
        <p:txBody>
          <a:bodyPr wrap="square" lIns="0" rIns="0" tIns="0" bIns="0" anchor="ctr">
            <a:noAutofit/>
          </a:bodyPr>
          <a:lstStyle/>
          <a:p>
            <a:pPr algn="l">
              <a:lnSpc>
                <a:spcPct val="100000"/>
              </a:lnSpc>
            </a:pPr>
            <a:r>
              <a:rPr b="1" i="0" sz="3000">
                <a:solidFill>
                  <a:srgbClr val="000000"/>
                </a:solidFill>
                <a:latin typeface="Poppins"/>
              </a:rPr>
              <a:t>KCD Porto × DevOps Days Portugal</a:t>
            </a:r>
          </a:p>
        </p:txBody>
      </p:sp>
      <p:sp>
        <p:nvSpPr>
          <p:cNvPr id="6" name="Rounded Rectangle 5"/>
          <p:cNvSpPr/>
          <p:nvPr/>
        </p:nvSpPr>
        <p:spPr>
          <a:xfrm>
            <a:off x="548640" y="1481328"/>
            <a:ext cx="7269480" cy="4754880"/>
          </a:xfrm>
          <a:prstGeom prst="roundRect">
            <a:avLst>
              <a:gd name="adj" fmla="val 384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kcd-porto-devopsdays.jpg"/>
          <p:cNvPicPr>
            <a:picLocks noChangeAspect="1"/>
          </p:cNvPicPr>
          <p:nvPr/>
        </p:nvPicPr>
        <p:blipFill>
          <a:blip r:embed="rId3"/>
          <a:stretch>
            <a:fillRect/>
          </a:stretch>
        </p:blipFill>
        <p:spPr>
          <a:xfrm>
            <a:off x="777240" y="1691640"/>
            <a:ext cx="1682380" cy="868680"/>
          </a:xfrm>
          <a:prstGeom prst="rect">
            <a:avLst/>
          </a:prstGeom>
        </p:spPr>
      </p:pic>
      <p:sp>
        <p:nvSpPr>
          <p:cNvPr id="8" name="TextBox 7"/>
          <p:cNvSpPr txBox="1"/>
          <p:nvPr/>
        </p:nvSpPr>
        <p:spPr>
          <a:xfrm>
            <a:off x="2651760" y="1664208"/>
            <a:ext cx="4983480" cy="566928"/>
          </a:xfrm>
          <a:prstGeom prst="rect">
            <a:avLst/>
          </a:prstGeom>
          <a:noFill/>
        </p:spPr>
        <p:txBody>
          <a:bodyPr wrap="square" lIns="0" rIns="0" tIns="0" bIns="0" anchor="ctr">
            <a:noAutofit/>
          </a:bodyPr>
          <a:lstStyle/>
          <a:p>
            <a:pPr algn="l">
              <a:lnSpc>
                <a:spcPct val="100000"/>
              </a:lnSpc>
            </a:pPr>
            <a:r>
              <a:rPr b="1" i="0" sz="1500">
                <a:solidFill>
                  <a:srgbClr val="000000"/>
                </a:solidFill>
                <a:latin typeface="Poppins"/>
              </a:rPr>
              <a:t>KCD Porto 2026 | Collab with DevOps Days Portugal</a:t>
            </a:r>
          </a:p>
        </p:txBody>
      </p:sp>
      <p:sp>
        <p:nvSpPr>
          <p:cNvPr id="9" name="TextBox 8"/>
          <p:cNvSpPr txBox="1"/>
          <p:nvPr/>
        </p:nvSpPr>
        <p:spPr>
          <a:xfrm>
            <a:off x="2651760" y="2249424"/>
            <a:ext cx="4983480" cy="640080"/>
          </a:xfrm>
          <a:prstGeom prst="rect">
            <a:avLst/>
          </a:prstGeom>
          <a:noFill/>
        </p:spPr>
        <p:txBody>
          <a:bodyPr wrap="square" lIns="0" rIns="0" tIns="0" bIns="0" anchor="t">
            <a:noAutofit/>
          </a:bodyPr>
          <a:lstStyle/>
          <a:p>
            <a:pPr algn="l">
              <a:lnSpc>
                <a:spcPct val="100000"/>
              </a:lnSpc>
              <a:spcAft>
                <a:spcPts val="100"/>
              </a:spcAft>
            </a:pPr>
            <a:r>
              <a:rPr b="0" i="0" sz="1150">
                <a:solidFill>
                  <a:srgbClr val="000000"/>
                </a:solidFill>
                <a:latin typeface="Poppins SemiBold"/>
              </a:rPr>
              <a:t>19–20 November 2026</a:t>
            </a:r>
          </a:p>
          <a:p>
            <a:pPr algn="l">
              <a:lnSpc>
                <a:spcPct val="100000"/>
              </a:lnSpc>
              <a:spcAft>
                <a:spcPts val="100"/>
              </a:spcAft>
            </a:pPr>
            <a:r>
              <a:rPr b="0" i="0" sz="1150">
                <a:solidFill>
                  <a:srgbClr val="3A3A4A"/>
                </a:solidFill>
                <a:latin typeface="Poppins"/>
              </a:rPr>
              <a:t>SuperBock Arena – Pavilhão Rosa Mota, Porto</a:t>
            </a:r>
          </a:p>
        </p:txBody>
      </p:sp>
      <p:sp>
        <p:nvSpPr>
          <p:cNvPr id="10" name="TextBox 9"/>
          <p:cNvSpPr txBox="1"/>
          <p:nvPr/>
        </p:nvSpPr>
        <p:spPr>
          <a:xfrm>
            <a:off x="777240" y="2788920"/>
            <a:ext cx="6812280" cy="548640"/>
          </a:xfrm>
          <a:prstGeom prst="rect">
            <a:avLst/>
          </a:prstGeom>
          <a:noFill/>
        </p:spPr>
        <p:txBody>
          <a:bodyPr wrap="square" lIns="0" rIns="0" tIns="0" bIns="0" anchor="ctr">
            <a:noAutofit/>
          </a:bodyPr>
          <a:lstStyle/>
          <a:p>
            <a:pPr algn="l">
              <a:lnSpc>
                <a:spcPct val="100000"/>
              </a:lnSpc>
            </a:pPr>
            <a:r>
              <a:rPr b="0" i="0" sz="1050">
                <a:solidFill>
                  <a:srgbClr val="3A3A4A"/>
                </a:solidFill>
                <a:latin typeface="Poppins"/>
              </a:rPr>
              <a:t>The biggest Kubernetes and Cloud Native event ever organized in Portugal: two days, 500+ attendees, keynotes, technical sessions and networking.</a:t>
            </a:r>
          </a:p>
        </p:txBody>
      </p:sp>
      <p:sp>
        <p:nvSpPr>
          <p:cNvPr id="11" name="TextBox 10"/>
          <p:cNvSpPr txBox="1"/>
          <p:nvPr/>
        </p:nvSpPr>
        <p:spPr>
          <a:xfrm>
            <a:off x="777240" y="3383280"/>
            <a:ext cx="3657600" cy="274320"/>
          </a:xfrm>
          <a:prstGeom prst="rect">
            <a:avLst/>
          </a:prstGeom>
          <a:noFill/>
        </p:spPr>
        <p:txBody>
          <a:bodyPr wrap="square" lIns="0" rIns="0" tIns="0" bIns="0" anchor="ctr">
            <a:noAutofit/>
          </a:bodyPr>
          <a:lstStyle/>
          <a:p>
            <a:pPr algn="l">
              <a:lnSpc>
                <a:spcPct val="100000"/>
              </a:lnSpc>
            </a:pPr>
            <a:r>
              <a:rPr b="1" i="0" sz="1000" spc="120">
                <a:solidFill>
                  <a:srgbClr val="45307F"/>
                </a:solidFill>
                <a:latin typeface="Poppins"/>
              </a:rPr>
              <a:t>CONFIRMED KEYNOTES</a:t>
            </a:r>
          </a:p>
        </p:txBody>
      </p:sp>
      <p:pic>
        <p:nvPicPr>
          <p:cNvPr id="12" name="Picture 11" descr="manuel-pais-03e39c333b.png"/>
          <p:cNvPicPr>
            <a:picLocks noChangeAspect="1"/>
          </p:cNvPicPr>
          <p:nvPr/>
        </p:nvPicPr>
        <p:blipFill>
          <a:blip r:embed="rId4"/>
          <a:stretch>
            <a:fillRect/>
          </a:stretch>
        </p:blipFill>
        <p:spPr>
          <a:xfrm>
            <a:off x="777240" y="3675887"/>
            <a:ext cx="1565910" cy="1234440"/>
          </a:xfrm>
          <a:prstGeom prst="rect">
            <a:avLst/>
          </a:prstGeom>
        </p:spPr>
      </p:pic>
      <p:sp>
        <p:nvSpPr>
          <p:cNvPr id="13" name="TextBox 12"/>
          <p:cNvSpPr txBox="1"/>
          <p:nvPr/>
        </p:nvSpPr>
        <p:spPr>
          <a:xfrm>
            <a:off x="777240" y="4937760"/>
            <a:ext cx="1565910" cy="274320"/>
          </a:xfrm>
          <a:prstGeom prst="rect">
            <a:avLst/>
          </a:prstGeom>
          <a:noFill/>
        </p:spPr>
        <p:txBody>
          <a:bodyPr wrap="square" lIns="0" rIns="0" tIns="0" bIns="0" anchor="ctr">
            <a:noAutofit/>
          </a:bodyPr>
          <a:lstStyle/>
          <a:p>
            <a:pPr algn="l">
              <a:lnSpc>
                <a:spcPct val="100000"/>
              </a:lnSpc>
            </a:pPr>
            <a:r>
              <a:rPr b="1" i="0" sz="1100">
                <a:solidFill>
                  <a:srgbClr val="000000"/>
                </a:solidFill>
                <a:latin typeface="Poppins"/>
              </a:rPr>
              <a:t>Manuel Pais</a:t>
            </a:r>
          </a:p>
        </p:txBody>
      </p:sp>
      <p:sp>
        <p:nvSpPr>
          <p:cNvPr id="14" name="TextBox 13"/>
          <p:cNvSpPr txBox="1"/>
          <p:nvPr/>
        </p:nvSpPr>
        <p:spPr>
          <a:xfrm>
            <a:off x="777240" y="5193792"/>
            <a:ext cx="1565910" cy="475488"/>
          </a:xfrm>
          <a:prstGeom prst="rect">
            <a:avLst/>
          </a:prstGeom>
          <a:noFill/>
        </p:spPr>
        <p:txBody>
          <a:bodyPr wrap="square" lIns="0" rIns="0" tIns="0" bIns="0" anchor="t">
            <a:noAutofit/>
          </a:bodyPr>
          <a:lstStyle/>
          <a:p>
            <a:pPr algn="l">
              <a:lnSpc>
                <a:spcPct val="100000"/>
              </a:lnSpc>
            </a:pPr>
            <a:r>
              <a:rPr b="0" i="0" sz="850">
                <a:solidFill>
                  <a:srgbClr val="3A3A4A"/>
                </a:solidFill>
                <a:latin typeface="Poppins"/>
              </a:rPr>
              <a:t>Team Topologies Co-Author</a:t>
            </a:r>
          </a:p>
        </p:txBody>
      </p:sp>
      <p:pic>
        <p:nvPicPr>
          <p:cNvPr id="15" name="Picture 14" descr="juraci-paixao-ef80790727.png"/>
          <p:cNvPicPr>
            <a:picLocks noChangeAspect="1"/>
          </p:cNvPicPr>
          <p:nvPr/>
        </p:nvPicPr>
        <p:blipFill>
          <a:blip r:embed="rId5"/>
          <a:stretch>
            <a:fillRect/>
          </a:stretch>
        </p:blipFill>
        <p:spPr>
          <a:xfrm>
            <a:off x="2526029" y="3675887"/>
            <a:ext cx="1565910" cy="1234440"/>
          </a:xfrm>
          <a:prstGeom prst="rect">
            <a:avLst/>
          </a:prstGeom>
        </p:spPr>
      </p:pic>
      <p:sp>
        <p:nvSpPr>
          <p:cNvPr id="16" name="TextBox 15"/>
          <p:cNvSpPr txBox="1"/>
          <p:nvPr/>
        </p:nvSpPr>
        <p:spPr>
          <a:xfrm>
            <a:off x="2526029" y="4937760"/>
            <a:ext cx="1565910" cy="274320"/>
          </a:xfrm>
          <a:prstGeom prst="rect">
            <a:avLst/>
          </a:prstGeom>
          <a:noFill/>
        </p:spPr>
        <p:txBody>
          <a:bodyPr wrap="square" lIns="0" rIns="0" tIns="0" bIns="0" anchor="ctr">
            <a:noAutofit/>
          </a:bodyPr>
          <a:lstStyle/>
          <a:p>
            <a:pPr algn="l">
              <a:lnSpc>
                <a:spcPct val="100000"/>
              </a:lnSpc>
            </a:pPr>
            <a:r>
              <a:rPr b="1" i="0" sz="1100">
                <a:solidFill>
                  <a:srgbClr val="000000"/>
                </a:solidFill>
                <a:latin typeface="Poppins"/>
              </a:rPr>
              <a:t>Juraci Paixão</a:t>
            </a:r>
          </a:p>
        </p:txBody>
      </p:sp>
      <p:sp>
        <p:nvSpPr>
          <p:cNvPr id="17" name="TextBox 16"/>
          <p:cNvSpPr txBox="1"/>
          <p:nvPr/>
        </p:nvSpPr>
        <p:spPr>
          <a:xfrm>
            <a:off x="2526029" y="5193792"/>
            <a:ext cx="1565910" cy="475488"/>
          </a:xfrm>
          <a:prstGeom prst="rect">
            <a:avLst/>
          </a:prstGeom>
          <a:noFill/>
        </p:spPr>
        <p:txBody>
          <a:bodyPr wrap="square" lIns="0" rIns="0" tIns="0" bIns="0" anchor="t">
            <a:noAutofit/>
          </a:bodyPr>
          <a:lstStyle/>
          <a:p>
            <a:pPr algn="l">
              <a:lnSpc>
                <a:spcPct val="100000"/>
              </a:lnSpc>
            </a:pPr>
            <a:r>
              <a:rPr b="0" i="0" sz="850">
                <a:solidFill>
                  <a:srgbClr val="3A3A4A"/>
                </a:solidFill>
                <a:latin typeface="Poppins"/>
              </a:rPr>
              <a:t>CEO of OllyGarden</a:t>
            </a:r>
          </a:p>
        </p:txBody>
      </p:sp>
      <p:pic>
        <p:nvPicPr>
          <p:cNvPr id="18" name="Picture 17" descr="mario-fahlandt-1f371344e0.png"/>
          <p:cNvPicPr>
            <a:picLocks noChangeAspect="1"/>
          </p:cNvPicPr>
          <p:nvPr/>
        </p:nvPicPr>
        <p:blipFill>
          <a:blip r:embed="rId6"/>
          <a:stretch>
            <a:fillRect/>
          </a:stretch>
        </p:blipFill>
        <p:spPr>
          <a:xfrm>
            <a:off x="4274820" y="3675887"/>
            <a:ext cx="1565910" cy="1234440"/>
          </a:xfrm>
          <a:prstGeom prst="rect">
            <a:avLst/>
          </a:prstGeom>
        </p:spPr>
      </p:pic>
      <p:sp>
        <p:nvSpPr>
          <p:cNvPr id="19" name="TextBox 18"/>
          <p:cNvSpPr txBox="1"/>
          <p:nvPr/>
        </p:nvSpPr>
        <p:spPr>
          <a:xfrm>
            <a:off x="4274820" y="4937760"/>
            <a:ext cx="1565910" cy="274320"/>
          </a:xfrm>
          <a:prstGeom prst="rect">
            <a:avLst/>
          </a:prstGeom>
          <a:noFill/>
        </p:spPr>
        <p:txBody>
          <a:bodyPr wrap="square" lIns="0" rIns="0" tIns="0" bIns="0" anchor="ctr">
            <a:noAutofit/>
          </a:bodyPr>
          <a:lstStyle/>
          <a:p>
            <a:pPr algn="l">
              <a:lnSpc>
                <a:spcPct val="100000"/>
              </a:lnSpc>
            </a:pPr>
            <a:r>
              <a:rPr b="1" i="0" sz="1100">
                <a:solidFill>
                  <a:srgbClr val="000000"/>
                </a:solidFill>
                <a:latin typeface="Poppins"/>
              </a:rPr>
              <a:t>Mario Fahlandt</a:t>
            </a:r>
          </a:p>
        </p:txBody>
      </p:sp>
      <p:sp>
        <p:nvSpPr>
          <p:cNvPr id="20" name="TextBox 19"/>
          <p:cNvSpPr txBox="1"/>
          <p:nvPr/>
        </p:nvSpPr>
        <p:spPr>
          <a:xfrm>
            <a:off x="4274820" y="5193792"/>
            <a:ext cx="1565910" cy="475488"/>
          </a:xfrm>
          <a:prstGeom prst="rect">
            <a:avLst/>
          </a:prstGeom>
          <a:noFill/>
        </p:spPr>
        <p:txBody>
          <a:bodyPr wrap="square" lIns="0" rIns="0" tIns="0" bIns="0" anchor="t">
            <a:noAutofit/>
          </a:bodyPr>
          <a:lstStyle/>
          <a:p>
            <a:pPr algn="l">
              <a:lnSpc>
                <a:spcPct val="100000"/>
              </a:lnSpc>
            </a:pPr>
            <a:r>
              <a:rPr b="0" i="0" sz="850">
                <a:solidFill>
                  <a:srgbClr val="3A3A4A"/>
                </a:solidFill>
                <a:latin typeface="Poppins"/>
              </a:rPr>
              <a:t>Customer Delivery Architect at Kubermatic</a:t>
            </a:r>
          </a:p>
        </p:txBody>
      </p:sp>
      <p:pic>
        <p:nvPicPr>
          <p:cNvPr id="21" name="Picture 20" descr="natanael-copa-bceb6e284c.png"/>
          <p:cNvPicPr>
            <a:picLocks noChangeAspect="1"/>
          </p:cNvPicPr>
          <p:nvPr/>
        </p:nvPicPr>
        <p:blipFill>
          <a:blip r:embed="rId7"/>
          <a:stretch>
            <a:fillRect/>
          </a:stretch>
        </p:blipFill>
        <p:spPr>
          <a:xfrm>
            <a:off x="6023609" y="3675887"/>
            <a:ext cx="1565910" cy="1234440"/>
          </a:xfrm>
          <a:prstGeom prst="rect">
            <a:avLst/>
          </a:prstGeom>
        </p:spPr>
      </p:pic>
      <p:sp>
        <p:nvSpPr>
          <p:cNvPr id="22" name="TextBox 21"/>
          <p:cNvSpPr txBox="1"/>
          <p:nvPr/>
        </p:nvSpPr>
        <p:spPr>
          <a:xfrm>
            <a:off x="6023609" y="4937760"/>
            <a:ext cx="1565910" cy="274320"/>
          </a:xfrm>
          <a:prstGeom prst="rect">
            <a:avLst/>
          </a:prstGeom>
          <a:noFill/>
        </p:spPr>
        <p:txBody>
          <a:bodyPr wrap="square" lIns="0" rIns="0" tIns="0" bIns="0" anchor="ctr">
            <a:noAutofit/>
          </a:bodyPr>
          <a:lstStyle/>
          <a:p>
            <a:pPr algn="l">
              <a:lnSpc>
                <a:spcPct val="100000"/>
              </a:lnSpc>
            </a:pPr>
            <a:r>
              <a:rPr b="1" i="0" sz="1100">
                <a:solidFill>
                  <a:srgbClr val="000000"/>
                </a:solidFill>
                <a:latin typeface="Poppins"/>
              </a:rPr>
              <a:t>Natanael Copa</a:t>
            </a:r>
          </a:p>
        </p:txBody>
      </p:sp>
      <p:sp>
        <p:nvSpPr>
          <p:cNvPr id="23" name="TextBox 22"/>
          <p:cNvSpPr txBox="1"/>
          <p:nvPr/>
        </p:nvSpPr>
        <p:spPr>
          <a:xfrm>
            <a:off x="6023609" y="5193792"/>
            <a:ext cx="1565910" cy="475488"/>
          </a:xfrm>
          <a:prstGeom prst="rect">
            <a:avLst/>
          </a:prstGeom>
          <a:noFill/>
        </p:spPr>
        <p:txBody>
          <a:bodyPr wrap="square" lIns="0" rIns="0" tIns="0" bIns="0" anchor="t">
            <a:noAutofit/>
          </a:bodyPr>
          <a:lstStyle/>
          <a:p>
            <a:pPr algn="l">
              <a:lnSpc>
                <a:spcPct val="100000"/>
              </a:lnSpc>
            </a:pPr>
            <a:r>
              <a:rPr b="0" i="0" sz="850">
                <a:solidFill>
                  <a:srgbClr val="3A3A4A"/>
                </a:solidFill>
                <a:latin typeface="Poppins"/>
              </a:rPr>
              <a:t>Creator of Alpine Linux · k0s Maintainer</a:t>
            </a:r>
          </a:p>
        </p:txBody>
      </p:sp>
      <p:sp>
        <p:nvSpPr>
          <p:cNvPr id="24" name="Rounded Rectangle 23"/>
          <p:cNvSpPr/>
          <p:nvPr/>
        </p:nvSpPr>
        <p:spPr>
          <a:xfrm>
            <a:off x="777240" y="5760720"/>
            <a:ext cx="2585669" cy="347472"/>
          </a:xfrm>
          <a:prstGeom prst="roundRect">
            <a:avLst>
              <a:gd name="adj" fmla="val 50000"/>
            </a:avLst>
          </a:prstGeom>
          <a:solidFill>
            <a:srgbClr val="7B5A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77240" y="5760720"/>
            <a:ext cx="2585669" cy="347472"/>
          </a:xfrm>
          <a:prstGeom prst="rect">
            <a:avLst/>
          </a:prstGeom>
          <a:noFill/>
        </p:spPr>
        <p:txBody>
          <a:bodyPr wrap="square" lIns="0" rIns="0" tIns="0" bIns="0" anchor="ctr">
            <a:noAutofit/>
          </a:bodyPr>
          <a:lstStyle/>
          <a:p>
            <a:pPr algn="ctr">
              <a:lnSpc>
                <a:spcPct val="100000"/>
              </a:lnSpc>
            </a:pPr>
            <a:r>
              <a:rPr b="1" i="0" sz="1100">
                <a:solidFill>
                  <a:srgbClr val="FFFFFF"/>
                </a:solidFill>
                <a:latin typeface="Poppins"/>
              </a:rPr>
              <a:t>Full agenda released this week</a:t>
            </a:r>
          </a:p>
        </p:txBody>
      </p:sp>
      <p:sp>
        <p:nvSpPr>
          <p:cNvPr id="26" name="Rounded Rectangle 25"/>
          <p:cNvSpPr/>
          <p:nvPr/>
        </p:nvSpPr>
        <p:spPr>
          <a:xfrm>
            <a:off x="8129016" y="1563624"/>
            <a:ext cx="3593592" cy="4754880"/>
          </a:xfrm>
          <a:prstGeom prst="roundRect">
            <a:avLst>
              <a:gd name="adj" fmla="val 5089"/>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8046720" y="1481328"/>
            <a:ext cx="3593592" cy="4754880"/>
          </a:xfrm>
          <a:prstGeom prst="roundRect">
            <a:avLst>
              <a:gd name="adj" fmla="val 5089"/>
            </a:avLst>
          </a:prstGeom>
          <a:solidFill>
            <a:srgbClr val="FFFFFF"/>
          </a:solidFill>
          <a:ln w="317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kcd-site.png">
            <a:hlinkClick r:id="rId9"/>
          </p:cNvPr>
          <p:cNvPicPr>
            <a:picLocks noChangeAspect="1"/>
          </p:cNvPicPr>
          <p:nvPr/>
        </p:nvPicPr>
        <p:blipFill>
          <a:blip r:embed="rId8"/>
          <a:stretch>
            <a:fillRect/>
          </a:stretch>
        </p:blipFill>
        <p:spPr>
          <a:xfrm>
            <a:off x="8586216" y="1691640"/>
            <a:ext cx="2514600" cy="2514600"/>
          </a:xfrm>
          <a:prstGeom prst="rect">
            <a:avLst/>
          </a:prstGeom>
        </p:spPr>
      </p:pic>
      <p:sp>
        <p:nvSpPr>
          <p:cNvPr id="29" name="TextBox 28"/>
          <p:cNvSpPr txBox="1"/>
          <p:nvPr/>
        </p:nvSpPr>
        <p:spPr>
          <a:xfrm>
            <a:off x="8183879" y="4224528"/>
            <a:ext cx="3319272" cy="320040"/>
          </a:xfrm>
          <a:prstGeom prst="rect">
            <a:avLst/>
          </a:prstGeom>
          <a:noFill/>
        </p:spPr>
        <p:txBody>
          <a:bodyPr wrap="square" lIns="0" rIns="0" tIns="0" bIns="0" anchor="ctr">
            <a:noAutofit/>
          </a:bodyPr>
          <a:lstStyle/>
          <a:p>
            <a:pPr algn="ctr">
              <a:lnSpc>
                <a:spcPct val="100000"/>
              </a:lnSpc>
            </a:pPr>
            <a:r>
              <a:rPr b="1" i="0" sz="1150">
                <a:solidFill>
                  <a:srgbClr val="000000"/>
                </a:solidFill>
                <a:latin typeface="Poppins"/>
              </a:rPr>
              <a:t>Scan for tickets &amp; info</a:t>
            </a:r>
          </a:p>
        </p:txBody>
      </p:sp>
      <p:sp>
        <p:nvSpPr>
          <p:cNvPr id="30" name="TextBox 29"/>
          <p:cNvSpPr txBox="1"/>
          <p:nvPr/>
        </p:nvSpPr>
        <p:spPr>
          <a:xfrm>
            <a:off x="8183879" y="4645152"/>
            <a:ext cx="3319272" cy="274320"/>
          </a:xfrm>
          <a:prstGeom prst="rect">
            <a:avLst/>
          </a:prstGeom>
          <a:noFill/>
        </p:spPr>
        <p:txBody>
          <a:bodyPr wrap="square" lIns="0" rIns="0" tIns="0" bIns="0" anchor="ctr">
            <a:noAutofit/>
          </a:bodyPr>
          <a:lstStyle/>
          <a:p>
            <a:pPr algn="ctr">
              <a:lnSpc>
                <a:spcPct val="100000"/>
              </a:lnSpc>
            </a:pPr>
            <a:r>
              <a:rPr b="1" i="0" sz="950" spc="120">
                <a:solidFill>
                  <a:srgbClr val="3A3A4A"/>
                </a:solidFill>
                <a:latin typeface="Poppins"/>
              </a:rPr>
              <a:t>DISCOUNT CODE</a:t>
            </a:r>
          </a:p>
        </p:txBody>
      </p:sp>
      <p:sp>
        <p:nvSpPr>
          <p:cNvPr id="31" name="Rounded Rectangle 30"/>
          <p:cNvSpPr/>
          <p:nvPr/>
        </p:nvSpPr>
        <p:spPr>
          <a:xfrm>
            <a:off x="8334756" y="4956048"/>
            <a:ext cx="3017520" cy="548640"/>
          </a:xfrm>
          <a:prstGeom prst="roundRect">
            <a:avLst>
              <a:gd name="adj" fmla="val 50000"/>
            </a:avLst>
          </a:prstGeom>
          <a:solidFill>
            <a:srgbClr val="453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334756" y="4956048"/>
            <a:ext cx="3017520" cy="548640"/>
          </a:xfrm>
          <a:prstGeom prst="rect">
            <a:avLst/>
          </a:prstGeom>
          <a:noFill/>
        </p:spPr>
        <p:txBody>
          <a:bodyPr wrap="square" lIns="0" rIns="0" tIns="0" bIns="0" anchor="ctr">
            <a:noAutofit/>
          </a:bodyPr>
          <a:lstStyle/>
          <a:p>
            <a:pPr algn="ctr">
              <a:lnSpc>
                <a:spcPct val="100000"/>
              </a:lnSpc>
            </a:pPr>
            <a:r>
              <a:rPr b="1" i="0" sz="1700">
                <a:solidFill>
                  <a:srgbClr val="FFFFFF"/>
                </a:solidFill>
                <a:latin typeface="Poppins"/>
              </a:rPr>
              <a:t>cnpdevopsdiscount</a:t>
            </a:r>
          </a:p>
        </p:txBody>
      </p:sp>
      <p:sp>
        <p:nvSpPr>
          <p:cNvPr id="33" name="TextBox 32"/>
          <p:cNvSpPr txBox="1"/>
          <p:nvPr/>
        </p:nvSpPr>
        <p:spPr>
          <a:xfrm>
            <a:off x="8183879" y="5623560"/>
            <a:ext cx="3319272" cy="411480"/>
          </a:xfrm>
          <a:prstGeom prst="rect">
            <a:avLst/>
          </a:prstGeom>
          <a:noFill/>
        </p:spPr>
        <p:txBody>
          <a:bodyPr wrap="square" lIns="0" rIns="0" tIns="0" bIns="0" anchor="ctr">
            <a:noAutofit/>
          </a:bodyPr>
          <a:lstStyle/>
          <a:p>
            <a:pPr algn="ctr">
              <a:lnSpc>
                <a:spcPct val="100000"/>
              </a:lnSpc>
            </a:pPr>
            <a:r>
              <a:rPr b="0" i="0" sz="900">
                <a:solidFill>
                  <a:srgbClr val="3A3A4A"/>
                </a:solidFill>
                <a:latin typeface="Poppins"/>
              </a:rPr>
              <a:t>Use it at checkout on the KCD Porto event page</a:t>
            </a:r>
          </a:p>
        </p:txBody>
      </p:sp>
      <p:sp>
        <p:nvSpPr>
          <p:cNvPr id="34" name="TextBox 33"/>
          <p:cNvSpPr txBox="1"/>
          <p:nvPr/>
        </p:nvSpPr>
        <p:spPr>
          <a:xfrm>
            <a:off x="548640" y="6446520"/>
            <a:ext cx="8229600" cy="274320"/>
          </a:xfrm>
          <a:prstGeom prst="rect">
            <a:avLst/>
          </a:prstGeom>
          <a:noFill/>
        </p:spPr>
        <p:txBody>
          <a:bodyPr wrap="square" lIns="0" rIns="0" tIns="0" bIns="0" anchor="ctr">
            <a:noAutofit/>
          </a:bodyPr>
          <a:lstStyle/>
          <a:p>
            <a:pPr algn="l">
              <a:lnSpc>
                <a:spcPct val="100000"/>
              </a:lnSpc>
            </a:pPr>
            <a:r>
              <a:rPr b="0" i="0" sz="1050">
                <a:solidFill>
                  <a:srgbClr val="EDE9F7"/>
                </a:solidFill>
                <a:latin typeface="Poppins Medium"/>
              </a:rPr>
              <a:t>AWS User Group Porto  ×  OutSystems User Group Porto   ·   #8   ·   8 September 2026</a:t>
            </a:r>
          </a:p>
        </p:txBody>
      </p:sp>
      <p:sp>
        <p:nvSpPr>
          <p:cNvPr id="35" name="TextBox 34"/>
          <p:cNvSpPr txBox="1"/>
          <p:nvPr/>
        </p:nvSpPr>
        <p:spPr>
          <a:xfrm>
            <a:off x="10607040" y="6446520"/>
            <a:ext cx="1033271" cy="274320"/>
          </a:xfrm>
          <a:prstGeom prst="rect">
            <a:avLst/>
          </a:prstGeom>
          <a:noFill/>
        </p:spPr>
        <p:txBody>
          <a:bodyPr wrap="square" lIns="0" rIns="0" tIns="0" bIns="0" anchor="ctr">
            <a:noAutofit/>
          </a:bodyPr>
          <a:lstStyle/>
          <a:p>
            <a:pPr algn="r">
              <a:lnSpc>
                <a:spcPct val="100000"/>
              </a:lnSpc>
            </a:pPr>
            <a:r>
              <a:rPr b="0" i="0" sz="1050">
                <a:solidFill>
                  <a:srgbClr val="EDE9F7"/>
                </a:solidFill>
                <a:latin typeface="Poppins Medium"/>
              </a:rPr>
              <a:t>7 / 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30936" y="493776"/>
            <a:ext cx="6300470" cy="868680"/>
          </a:xfrm>
          <a:prstGeom prst="roundRect">
            <a:avLst>
              <a:gd name="adj" fmla="val 21052"/>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411480"/>
            <a:ext cx="6300470" cy="868680"/>
          </a:xfrm>
          <a:prstGeom prst="roundRect">
            <a:avLst>
              <a:gd name="adj" fmla="val 21052"/>
            </a:avLst>
          </a:prstGeom>
          <a:solidFill>
            <a:srgbClr val="FFFFFF"/>
          </a:solidFill>
          <a:ln w="317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411480"/>
            <a:ext cx="5751830" cy="868680"/>
          </a:xfrm>
          <a:prstGeom prst="rect">
            <a:avLst/>
          </a:prstGeom>
          <a:noFill/>
        </p:spPr>
        <p:txBody>
          <a:bodyPr wrap="square" lIns="0" rIns="0" tIns="0" bIns="0" anchor="ctr">
            <a:noAutofit/>
          </a:bodyPr>
          <a:lstStyle/>
          <a:p>
            <a:pPr algn="l">
              <a:lnSpc>
                <a:spcPct val="100000"/>
              </a:lnSpc>
            </a:pPr>
            <a:r>
              <a:rPr b="1" i="0" sz="3000">
                <a:solidFill>
                  <a:srgbClr val="000000"/>
                </a:solidFill>
                <a:latin typeface="Poppins"/>
              </a:rPr>
              <a:t>Raffle: win a KCD Porto ticket</a:t>
            </a:r>
          </a:p>
        </p:txBody>
      </p:sp>
      <p:sp>
        <p:nvSpPr>
          <p:cNvPr id="6" name="TextBox 5"/>
          <p:cNvSpPr txBox="1"/>
          <p:nvPr/>
        </p:nvSpPr>
        <p:spPr>
          <a:xfrm>
            <a:off x="548640" y="1737360"/>
            <a:ext cx="5486400" cy="2286000"/>
          </a:xfrm>
          <a:prstGeom prst="rect">
            <a:avLst/>
          </a:prstGeom>
          <a:noFill/>
        </p:spPr>
        <p:txBody>
          <a:bodyPr wrap="square" lIns="0" rIns="0" tIns="0" bIns="0" anchor="ctr">
            <a:noAutofit/>
          </a:bodyPr>
          <a:lstStyle/>
          <a:p>
            <a:pPr algn="l">
              <a:lnSpc>
                <a:spcPct val="105000"/>
              </a:lnSpc>
            </a:pPr>
            <a:r>
              <a:rPr b="1" i="0" sz="2700">
                <a:solidFill>
                  <a:srgbClr val="FFFFFF"/>
                </a:solidFill>
                <a:latin typeface="Poppins"/>
              </a:rPr>
              <a:t>We are raffling one KCD Porto × DevOps Days Portugal ticket at this meetup.</a:t>
            </a:r>
          </a:p>
        </p:txBody>
      </p:sp>
      <p:sp>
        <p:nvSpPr>
          <p:cNvPr id="7" name="TextBox 6"/>
          <p:cNvSpPr txBox="1"/>
          <p:nvPr/>
        </p:nvSpPr>
        <p:spPr>
          <a:xfrm>
            <a:off x="548640" y="4160520"/>
            <a:ext cx="5486400" cy="914400"/>
          </a:xfrm>
          <a:prstGeom prst="rect">
            <a:avLst/>
          </a:prstGeom>
          <a:noFill/>
        </p:spPr>
        <p:txBody>
          <a:bodyPr wrap="square" lIns="0" rIns="0" tIns="0" bIns="0" anchor="t">
            <a:noAutofit/>
          </a:bodyPr>
          <a:lstStyle/>
          <a:p>
            <a:pPr algn="l">
              <a:lnSpc>
                <a:spcPct val="110000"/>
              </a:lnSpc>
            </a:pPr>
            <a:r>
              <a:rPr b="0" i="0" sz="1550">
                <a:solidFill>
                  <a:srgbClr val="FFFFFF"/>
                </a:solidFill>
                <a:latin typeface="Poppins Medium"/>
              </a:rPr>
              <a:t>Scan the QR code, fill in the form, and the winner is drawn at the end of the meetup.</a:t>
            </a:r>
          </a:p>
        </p:txBody>
      </p:sp>
      <p:sp>
        <p:nvSpPr>
          <p:cNvPr id="8" name="TextBox 7">
            <a:hlinkClick r:id="rId3"/>
          </p:cNvPr>
          <p:cNvSpPr txBox="1"/>
          <p:nvPr/>
        </p:nvSpPr>
        <p:spPr>
          <a:xfrm>
            <a:off x="548640" y="5212080"/>
            <a:ext cx="5486400" cy="457200"/>
          </a:xfrm>
          <a:prstGeom prst="rect">
            <a:avLst/>
          </a:prstGeom>
          <a:noFill/>
        </p:spPr>
        <p:txBody>
          <a:bodyPr wrap="square" lIns="0" rIns="0" tIns="0" bIns="0" anchor="t">
            <a:noAutofit/>
          </a:bodyPr>
          <a:lstStyle/>
          <a:p>
            <a:pPr algn="l">
              <a:lnSpc>
                <a:spcPct val="100000"/>
              </a:lnSpc>
            </a:pPr>
            <a:r>
              <a:rPr b="0" i="0" sz="1200">
                <a:solidFill>
                  <a:srgbClr val="EDE9F7"/>
                </a:solidFill>
                <a:latin typeface="Poppins Medium"/>
              </a:rPr>
              <a:t>forms.gle/mBZbHRNYxwsuqphm6</a:t>
            </a:r>
          </a:p>
        </p:txBody>
      </p:sp>
      <p:sp>
        <p:nvSpPr>
          <p:cNvPr id="9" name="Rounded Rectangle 8"/>
          <p:cNvSpPr/>
          <p:nvPr/>
        </p:nvSpPr>
        <p:spPr>
          <a:xfrm>
            <a:off x="6528816" y="1499616"/>
            <a:ext cx="5193792" cy="4846320"/>
          </a:xfrm>
          <a:prstGeom prst="roundRect">
            <a:avLst>
              <a:gd name="adj" fmla="val 3773"/>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6446520" y="1417320"/>
            <a:ext cx="5193792" cy="4846320"/>
          </a:xfrm>
          <a:prstGeom prst="roundRect">
            <a:avLst>
              <a:gd name="adj" fmla="val 3773"/>
            </a:avLst>
          </a:prstGeom>
          <a:solidFill>
            <a:srgbClr val="FFFFFF"/>
          </a:solidFill>
          <a:ln w="317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raffle-form.png">
            <a:hlinkClick r:id="rId3"/>
          </p:cNvPr>
          <p:cNvPicPr>
            <a:picLocks noChangeAspect="1"/>
          </p:cNvPicPr>
          <p:nvPr/>
        </p:nvPicPr>
        <p:blipFill>
          <a:blip r:embed="rId4"/>
          <a:stretch>
            <a:fillRect/>
          </a:stretch>
        </p:blipFill>
        <p:spPr>
          <a:xfrm>
            <a:off x="7146036" y="1691640"/>
            <a:ext cx="3794760" cy="3794760"/>
          </a:xfrm>
          <a:prstGeom prst="rect">
            <a:avLst/>
          </a:prstGeom>
        </p:spPr>
      </p:pic>
      <p:sp>
        <p:nvSpPr>
          <p:cNvPr id="12" name="TextBox 11"/>
          <p:cNvSpPr txBox="1"/>
          <p:nvPr/>
        </p:nvSpPr>
        <p:spPr>
          <a:xfrm>
            <a:off x="6583680" y="5596128"/>
            <a:ext cx="4919472" cy="457200"/>
          </a:xfrm>
          <a:prstGeom prst="rect">
            <a:avLst/>
          </a:prstGeom>
          <a:noFill/>
        </p:spPr>
        <p:txBody>
          <a:bodyPr wrap="square" lIns="0" rIns="0" tIns="0" bIns="0" anchor="ctr">
            <a:noAutofit/>
          </a:bodyPr>
          <a:lstStyle/>
          <a:p>
            <a:pPr algn="ctr">
              <a:lnSpc>
                <a:spcPct val="100000"/>
              </a:lnSpc>
            </a:pPr>
            <a:r>
              <a:rPr b="1" i="0" sz="1400">
                <a:solidFill>
                  <a:srgbClr val="000000"/>
                </a:solidFill>
                <a:latin typeface="Poppins"/>
              </a:rPr>
              <a:t>Scan to enter the raffle</a:t>
            </a:r>
          </a:p>
        </p:txBody>
      </p:sp>
      <p:sp>
        <p:nvSpPr>
          <p:cNvPr id="13" name="TextBox 12"/>
          <p:cNvSpPr txBox="1"/>
          <p:nvPr/>
        </p:nvSpPr>
        <p:spPr>
          <a:xfrm>
            <a:off x="548640" y="6446520"/>
            <a:ext cx="8229600" cy="274320"/>
          </a:xfrm>
          <a:prstGeom prst="rect">
            <a:avLst/>
          </a:prstGeom>
          <a:noFill/>
        </p:spPr>
        <p:txBody>
          <a:bodyPr wrap="square" lIns="0" rIns="0" tIns="0" bIns="0" anchor="ctr">
            <a:noAutofit/>
          </a:bodyPr>
          <a:lstStyle/>
          <a:p>
            <a:pPr algn="l">
              <a:lnSpc>
                <a:spcPct val="100000"/>
              </a:lnSpc>
            </a:pPr>
            <a:r>
              <a:rPr b="0" i="0" sz="1050">
                <a:solidFill>
                  <a:srgbClr val="EDE9F7"/>
                </a:solidFill>
                <a:latin typeface="Poppins Medium"/>
              </a:rPr>
              <a:t>AWS User Group Porto  ×  OutSystems User Group Porto   ·   #8   ·   8 September 2026</a:t>
            </a:r>
          </a:p>
        </p:txBody>
      </p:sp>
      <p:sp>
        <p:nvSpPr>
          <p:cNvPr id="14" name="TextBox 13"/>
          <p:cNvSpPr txBox="1"/>
          <p:nvPr/>
        </p:nvSpPr>
        <p:spPr>
          <a:xfrm>
            <a:off x="10607040" y="6446520"/>
            <a:ext cx="1033271" cy="274320"/>
          </a:xfrm>
          <a:prstGeom prst="rect">
            <a:avLst/>
          </a:prstGeom>
          <a:noFill/>
        </p:spPr>
        <p:txBody>
          <a:bodyPr wrap="square" lIns="0" rIns="0" tIns="0" bIns="0" anchor="ctr">
            <a:noAutofit/>
          </a:bodyPr>
          <a:lstStyle/>
          <a:p>
            <a:pPr algn="r">
              <a:lnSpc>
                <a:spcPct val="100000"/>
              </a:lnSpc>
            </a:pPr>
            <a:r>
              <a:rPr b="0" i="0" sz="1050">
                <a:solidFill>
                  <a:srgbClr val="EDE9F7"/>
                </a:solidFill>
                <a:latin typeface="Poppins Medium"/>
              </a:rPr>
              <a:t>8 / 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685800"/>
            <a:ext cx="7315200" cy="1280160"/>
          </a:xfrm>
          <a:prstGeom prst="rect">
            <a:avLst/>
          </a:prstGeom>
          <a:noFill/>
        </p:spPr>
        <p:txBody>
          <a:bodyPr wrap="square" lIns="0" rIns="0" tIns="0" bIns="0" anchor="ctr">
            <a:noAutofit/>
          </a:bodyPr>
          <a:lstStyle/>
          <a:p>
            <a:pPr algn="l">
              <a:lnSpc>
                <a:spcPct val="95000"/>
              </a:lnSpc>
            </a:pPr>
            <a:r>
              <a:rPr b="1" i="0" sz="5800">
                <a:solidFill>
                  <a:srgbClr val="FFFFFF"/>
                </a:solidFill>
                <a:latin typeface="Poppins"/>
              </a:rPr>
              <a:t>Thank you!</a:t>
            </a:r>
          </a:p>
        </p:txBody>
      </p:sp>
      <p:sp>
        <p:nvSpPr>
          <p:cNvPr id="4" name="TextBox 3"/>
          <p:cNvSpPr txBox="1"/>
          <p:nvPr/>
        </p:nvSpPr>
        <p:spPr>
          <a:xfrm>
            <a:off x="548640" y="1965960"/>
            <a:ext cx="7772400" cy="960120"/>
          </a:xfrm>
          <a:prstGeom prst="rect">
            <a:avLst/>
          </a:prstGeom>
          <a:noFill/>
        </p:spPr>
        <p:txBody>
          <a:bodyPr wrap="square" lIns="0" rIns="0" tIns="0" bIns="0" anchor="t">
            <a:noAutofit/>
          </a:bodyPr>
          <a:lstStyle/>
          <a:p>
            <a:pPr algn="l">
              <a:lnSpc>
                <a:spcPct val="110000"/>
              </a:lnSpc>
            </a:pPr>
            <a:r>
              <a:rPr b="0" i="0" sz="1700">
                <a:solidFill>
                  <a:srgbClr val="FFFFFF"/>
                </a:solidFill>
                <a:latin typeface="Poppins Medium"/>
              </a:rPr>
              <a:t>Hope you enjoyed your time with us. See you at KCD Porto × DevOps Days Portugal on 19–20 November!</a:t>
            </a:r>
          </a:p>
        </p:txBody>
      </p:sp>
      <p:sp>
        <p:nvSpPr>
          <p:cNvPr id="5" name="TextBox 4"/>
          <p:cNvSpPr txBox="1"/>
          <p:nvPr/>
        </p:nvSpPr>
        <p:spPr>
          <a:xfrm>
            <a:off x="548640" y="3108960"/>
            <a:ext cx="5486400" cy="274320"/>
          </a:xfrm>
          <a:prstGeom prst="rect">
            <a:avLst/>
          </a:prstGeom>
          <a:noFill/>
        </p:spPr>
        <p:txBody>
          <a:bodyPr wrap="square" lIns="0" rIns="0" tIns="0" bIns="0" anchor="ctr">
            <a:noAutofit/>
          </a:bodyPr>
          <a:lstStyle/>
          <a:p>
            <a:pPr algn="l">
              <a:lnSpc>
                <a:spcPct val="100000"/>
              </a:lnSpc>
            </a:pPr>
            <a:r>
              <a:rPr b="1" i="0" sz="1100" spc="150">
                <a:solidFill>
                  <a:srgbClr val="FFFFFF"/>
                </a:solidFill>
                <a:latin typeface="Poppins"/>
              </a:rPr>
              <a:t>COLLABORATE AND FOLLOW US</a:t>
            </a:r>
          </a:p>
        </p:txBody>
      </p:sp>
      <p:sp>
        <p:nvSpPr>
          <p:cNvPr id="6" name="Rounded Rectangle 5">
            <a:hlinkClick r:id="rId3"/>
          </p:cNvPr>
          <p:cNvSpPr/>
          <p:nvPr/>
        </p:nvSpPr>
        <p:spPr>
          <a:xfrm>
            <a:off x="548640" y="3474720"/>
            <a:ext cx="2608326" cy="2724912"/>
          </a:xfrm>
          <a:prstGeom prst="roundRect">
            <a:avLst>
              <a:gd name="adj" fmla="val 701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slack.png"/>
          <p:cNvPicPr>
            <a:picLocks noChangeAspect="1"/>
          </p:cNvPicPr>
          <p:nvPr/>
        </p:nvPicPr>
        <p:blipFill>
          <a:blip r:embed="rId4"/>
          <a:stretch>
            <a:fillRect/>
          </a:stretch>
        </p:blipFill>
        <p:spPr>
          <a:xfrm>
            <a:off x="749808" y="3657600"/>
            <a:ext cx="502920" cy="502920"/>
          </a:xfrm>
          <a:prstGeom prst="rect">
            <a:avLst/>
          </a:prstGeom>
        </p:spPr>
      </p:pic>
      <p:sp>
        <p:nvSpPr>
          <p:cNvPr id="8" name="TextBox 7"/>
          <p:cNvSpPr txBox="1"/>
          <p:nvPr/>
        </p:nvSpPr>
        <p:spPr>
          <a:xfrm>
            <a:off x="1371600" y="3657600"/>
            <a:ext cx="1648206" cy="502920"/>
          </a:xfrm>
          <a:prstGeom prst="rect">
            <a:avLst/>
          </a:prstGeom>
          <a:noFill/>
        </p:spPr>
        <p:txBody>
          <a:bodyPr wrap="square" lIns="0" rIns="0" tIns="0" bIns="0" anchor="ctr">
            <a:noAutofit/>
          </a:bodyPr>
          <a:lstStyle/>
          <a:p>
            <a:pPr algn="l">
              <a:lnSpc>
                <a:spcPct val="95000"/>
              </a:lnSpc>
            </a:pPr>
            <a:r>
              <a:rPr b="1" i="0" sz="1150">
                <a:solidFill>
                  <a:srgbClr val="000000"/>
                </a:solidFill>
                <a:latin typeface="Poppins"/>
              </a:rPr>
              <a:t>Slack · AWS User Group Portugal</a:t>
            </a:r>
          </a:p>
        </p:txBody>
      </p:sp>
      <p:pic>
        <p:nvPicPr>
          <p:cNvPr id="9" name="Picture 8" descr="slack.png">
            <a:hlinkClick r:id="rId3"/>
          </p:cNvPr>
          <p:cNvPicPr>
            <a:picLocks noChangeAspect="1"/>
          </p:cNvPicPr>
          <p:nvPr/>
        </p:nvPicPr>
        <p:blipFill>
          <a:blip r:embed="rId5"/>
          <a:stretch>
            <a:fillRect/>
          </a:stretch>
        </p:blipFill>
        <p:spPr>
          <a:xfrm>
            <a:off x="1075563" y="4251959"/>
            <a:ext cx="1554480" cy="1554480"/>
          </a:xfrm>
          <a:prstGeom prst="rect">
            <a:avLst/>
          </a:prstGeom>
        </p:spPr>
      </p:pic>
      <p:sp>
        <p:nvSpPr>
          <p:cNvPr id="10" name="TextBox 9">
            <a:hlinkClick r:id="rId3"/>
          </p:cNvPr>
          <p:cNvSpPr txBox="1"/>
          <p:nvPr/>
        </p:nvSpPr>
        <p:spPr>
          <a:xfrm>
            <a:off x="658368" y="5833872"/>
            <a:ext cx="2388870" cy="274320"/>
          </a:xfrm>
          <a:prstGeom prst="rect">
            <a:avLst/>
          </a:prstGeom>
          <a:noFill/>
        </p:spPr>
        <p:txBody>
          <a:bodyPr wrap="square" lIns="0" rIns="0" tIns="0" bIns="0" anchor="ctr">
            <a:noAutofit/>
          </a:bodyPr>
          <a:lstStyle/>
          <a:p>
            <a:pPr algn="ctr">
              <a:lnSpc>
                <a:spcPct val="100000"/>
              </a:lnSpc>
            </a:pPr>
            <a:r>
              <a:rPr b="0" i="0" sz="750">
                <a:solidFill>
                  <a:srgbClr val="3A3A4A"/>
                </a:solidFill>
                <a:latin typeface="Poppins Medium"/>
              </a:rPr>
              <a:t>join.slack.com · awsusergroupportugal</a:t>
            </a:r>
          </a:p>
        </p:txBody>
      </p:sp>
      <p:sp>
        <p:nvSpPr>
          <p:cNvPr id="11" name="Rounded Rectangle 10">
            <a:hlinkClick r:id="rId6"/>
          </p:cNvPr>
          <p:cNvSpPr/>
          <p:nvPr/>
        </p:nvSpPr>
        <p:spPr>
          <a:xfrm>
            <a:off x="3376422" y="3474720"/>
            <a:ext cx="2608326" cy="2724912"/>
          </a:xfrm>
          <a:prstGeom prst="roundRect">
            <a:avLst>
              <a:gd name="adj" fmla="val 701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eetup.png"/>
          <p:cNvPicPr>
            <a:picLocks noChangeAspect="1"/>
          </p:cNvPicPr>
          <p:nvPr/>
        </p:nvPicPr>
        <p:blipFill>
          <a:blip r:embed="rId7"/>
          <a:stretch>
            <a:fillRect/>
          </a:stretch>
        </p:blipFill>
        <p:spPr>
          <a:xfrm>
            <a:off x="3577590" y="3767613"/>
            <a:ext cx="502920" cy="282892"/>
          </a:xfrm>
          <a:prstGeom prst="rect">
            <a:avLst/>
          </a:prstGeom>
        </p:spPr>
      </p:pic>
      <p:sp>
        <p:nvSpPr>
          <p:cNvPr id="13" name="TextBox 12"/>
          <p:cNvSpPr txBox="1"/>
          <p:nvPr/>
        </p:nvSpPr>
        <p:spPr>
          <a:xfrm>
            <a:off x="4199382" y="3657600"/>
            <a:ext cx="1648206" cy="502920"/>
          </a:xfrm>
          <a:prstGeom prst="rect">
            <a:avLst/>
          </a:prstGeom>
          <a:noFill/>
        </p:spPr>
        <p:txBody>
          <a:bodyPr wrap="square" lIns="0" rIns="0" tIns="0" bIns="0" anchor="ctr">
            <a:noAutofit/>
          </a:bodyPr>
          <a:lstStyle/>
          <a:p>
            <a:pPr algn="l">
              <a:lnSpc>
                <a:spcPct val="95000"/>
              </a:lnSpc>
            </a:pPr>
            <a:r>
              <a:rPr b="1" i="0" sz="1150">
                <a:solidFill>
                  <a:srgbClr val="000000"/>
                </a:solidFill>
                <a:latin typeface="Poppins"/>
              </a:rPr>
              <a:t>Meetup · AWS User Group Porto</a:t>
            </a:r>
          </a:p>
        </p:txBody>
      </p:sp>
      <p:pic>
        <p:nvPicPr>
          <p:cNvPr id="14" name="Picture 13" descr="meetup-group.png">
            <a:hlinkClick r:id="rId6"/>
          </p:cNvPr>
          <p:cNvPicPr>
            <a:picLocks noChangeAspect="1"/>
          </p:cNvPicPr>
          <p:nvPr/>
        </p:nvPicPr>
        <p:blipFill>
          <a:blip r:embed="rId8"/>
          <a:stretch>
            <a:fillRect/>
          </a:stretch>
        </p:blipFill>
        <p:spPr>
          <a:xfrm>
            <a:off x="3903345" y="4251959"/>
            <a:ext cx="1554480" cy="1554480"/>
          </a:xfrm>
          <a:prstGeom prst="rect">
            <a:avLst/>
          </a:prstGeom>
        </p:spPr>
      </p:pic>
      <p:sp>
        <p:nvSpPr>
          <p:cNvPr id="15" name="TextBox 14">
            <a:hlinkClick r:id="rId6"/>
          </p:cNvPr>
          <p:cNvSpPr txBox="1"/>
          <p:nvPr/>
        </p:nvSpPr>
        <p:spPr>
          <a:xfrm>
            <a:off x="3486150" y="5833872"/>
            <a:ext cx="2388870" cy="274320"/>
          </a:xfrm>
          <a:prstGeom prst="rect">
            <a:avLst/>
          </a:prstGeom>
          <a:noFill/>
        </p:spPr>
        <p:txBody>
          <a:bodyPr wrap="square" lIns="0" rIns="0" tIns="0" bIns="0" anchor="ctr">
            <a:noAutofit/>
          </a:bodyPr>
          <a:lstStyle/>
          <a:p>
            <a:pPr algn="ctr">
              <a:lnSpc>
                <a:spcPct val="100000"/>
              </a:lnSpc>
            </a:pPr>
            <a:r>
              <a:rPr b="0" i="0" sz="750">
                <a:solidFill>
                  <a:srgbClr val="3A3A4A"/>
                </a:solidFill>
                <a:latin typeface="Poppins Medium"/>
              </a:rPr>
              <a:t>meetup.com/aws-porto-user-group</a:t>
            </a:r>
          </a:p>
        </p:txBody>
      </p:sp>
      <p:sp>
        <p:nvSpPr>
          <p:cNvPr id="16" name="Rounded Rectangle 15">
            <a:hlinkClick r:id="rId9"/>
          </p:cNvPr>
          <p:cNvSpPr/>
          <p:nvPr/>
        </p:nvSpPr>
        <p:spPr>
          <a:xfrm>
            <a:off x="6204204" y="3474720"/>
            <a:ext cx="2608326" cy="2724912"/>
          </a:xfrm>
          <a:prstGeom prst="roundRect">
            <a:avLst>
              <a:gd name="adj" fmla="val 701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linkedin.png"/>
          <p:cNvPicPr>
            <a:picLocks noChangeAspect="1"/>
          </p:cNvPicPr>
          <p:nvPr/>
        </p:nvPicPr>
        <p:blipFill>
          <a:blip r:embed="rId10"/>
          <a:stretch>
            <a:fillRect/>
          </a:stretch>
        </p:blipFill>
        <p:spPr>
          <a:xfrm>
            <a:off x="6405372" y="3657600"/>
            <a:ext cx="502920" cy="502920"/>
          </a:xfrm>
          <a:prstGeom prst="rect">
            <a:avLst/>
          </a:prstGeom>
        </p:spPr>
      </p:pic>
      <p:sp>
        <p:nvSpPr>
          <p:cNvPr id="18" name="TextBox 17"/>
          <p:cNvSpPr txBox="1"/>
          <p:nvPr/>
        </p:nvSpPr>
        <p:spPr>
          <a:xfrm>
            <a:off x="7027164" y="3657600"/>
            <a:ext cx="1648206" cy="502920"/>
          </a:xfrm>
          <a:prstGeom prst="rect">
            <a:avLst/>
          </a:prstGeom>
          <a:noFill/>
        </p:spPr>
        <p:txBody>
          <a:bodyPr wrap="square" lIns="0" rIns="0" tIns="0" bIns="0" anchor="ctr">
            <a:noAutofit/>
          </a:bodyPr>
          <a:lstStyle/>
          <a:p>
            <a:pPr algn="l">
              <a:lnSpc>
                <a:spcPct val="95000"/>
              </a:lnSpc>
            </a:pPr>
            <a:r>
              <a:rPr b="1" i="0" sz="1150">
                <a:solidFill>
                  <a:srgbClr val="000000"/>
                </a:solidFill>
                <a:latin typeface="Poppins"/>
              </a:rPr>
              <a:t>LinkedIn · AWS User Group Porto</a:t>
            </a:r>
          </a:p>
        </p:txBody>
      </p:sp>
      <p:pic>
        <p:nvPicPr>
          <p:cNvPr id="19" name="Picture 18" descr="linkedin.png">
            <a:hlinkClick r:id="rId9"/>
          </p:cNvPr>
          <p:cNvPicPr>
            <a:picLocks noChangeAspect="1"/>
          </p:cNvPicPr>
          <p:nvPr/>
        </p:nvPicPr>
        <p:blipFill>
          <a:blip r:embed="rId11"/>
          <a:stretch>
            <a:fillRect/>
          </a:stretch>
        </p:blipFill>
        <p:spPr>
          <a:xfrm>
            <a:off x="6731127" y="4251959"/>
            <a:ext cx="1554480" cy="1554480"/>
          </a:xfrm>
          <a:prstGeom prst="rect">
            <a:avLst/>
          </a:prstGeom>
        </p:spPr>
      </p:pic>
      <p:sp>
        <p:nvSpPr>
          <p:cNvPr id="20" name="TextBox 19">
            <a:hlinkClick r:id="rId9"/>
          </p:cNvPr>
          <p:cNvSpPr txBox="1"/>
          <p:nvPr/>
        </p:nvSpPr>
        <p:spPr>
          <a:xfrm>
            <a:off x="6313932" y="5833872"/>
            <a:ext cx="2388870" cy="274320"/>
          </a:xfrm>
          <a:prstGeom prst="rect">
            <a:avLst/>
          </a:prstGeom>
          <a:noFill/>
        </p:spPr>
        <p:txBody>
          <a:bodyPr wrap="square" lIns="0" rIns="0" tIns="0" bIns="0" anchor="ctr">
            <a:noAutofit/>
          </a:bodyPr>
          <a:lstStyle/>
          <a:p>
            <a:pPr algn="ctr">
              <a:lnSpc>
                <a:spcPct val="100000"/>
              </a:lnSpc>
            </a:pPr>
            <a:r>
              <a:rPr b="0" i="0" sz="750">
                <a:solidFill>
                  <a:srgbClr val="3A3A4A"/>
                </a:solidFill>
                <a:latin typeface="Poppins Medium"/>
              </a:rPr>
              <a:t>linkedin.com/company/aws-user-group-porto</a:t>
            </a:r>
          </a:p>
        </p:txBody>
      </p:sp>
      <p:sp>
        <p:nvSpPr>
          <p:cNvPr id="21" name="Rounded Rectangle 20">
            <a:hlinkClick r:id="rId12"/>
          </p:cNvPr>
          <p:cNvSpPr/>
          <p:nvPr/>
        </p:nvSpPr>
        <p:spPr>
          <a:xfrm>
            <a:off x="9031986" y="3474720"/>
            <a:ext cx="2608326" cy="2724912"/>
          </a:xfrm>
          <a:prstGeom prst="roundRect">
            <a:avLst>
              <a:gd name="adj" fmla="val 701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icrophone.jpg"/>
          <p:cNvPicPr>
            <a:picLocks noChangeAspect="1"/>
          </p:cNvPicPr>
          <p:nvPr/>
        </p:nvPicPr>
        <p:blipFill>
          <a:blip r:embed="rId13"/>
          <a:stretch>
            <a:fillRect/>
          </a:stretch>
        </p:blipFill>
        <p:spPr>
          <a:xfrm>
            <a:off x="9233154" y="3657600"/>
            <a:ext cx="502920" cy="502920"/>
          </a:xfrm>
          <a:prstGeom prst="rect">
            <a:avLst/>
          </a:prstGeom>
        </p:spPr>
      </p:pic>
      <p:sp>
        <p:nvSpPr>
          <p:cNvPr id="23" name="TextBox 22"/>
          <p:cNvSpPr txBox="1"/>
          <p:nvPr/>
        </p:nvSpPr>
        <p:spPr>
          <a:xfrm>
            <a:off x="9854946" y="3657600"/>
            <a:ext cx="1648206" cy="502920"/>
          </a:xfrm>
          <a:prstGeom prst="rect">
            <a:avLst/>
          </a:prstGeom>
          <a:noFill/>
        </p:spPr>
        <p:txBody>
          <a:bodyPr wrap="square" lIns="0" rIns="0" tIns="0" bIns="0" anchor="ctr">
            <a:noAutofit/>
          </a:bodyPr>
          <a:lstStyle/>
          <a:p>
            <a:pPr algn="l">
              <a:lnSpc>
                <a:spcPct val="95000"/>
              </a:lnSpc>
            </a:pPr>
            <a:r>
              <a:rPr b="1" i="0" sz="1150">
                <a:solidFill>
                  <a:srgbClr val="000000"/>
                </a:solidFill>
                <a:latin typeface="Poppins"/>
              </a:rPr>
              <a:t>Call for speakers</a:t>
            </a:r>
          </a:p>
        </p:txBody>
      </p:sp>
      <p:pic>
        <p:nvPicPr>
          <p:cNvPr id="24" name="Picture 23" descr="speaker-form.png">
            <a:hlinkClick r:id="rId12"/>
          </p:cNvPr>
          <p:cNvPicPr>
            <a:picLocks noChangeAspect="1"/>
          </p:cNvPicPr>
          <p:nvPr/>
        </p:nvPicPr>
        <p:blipFill>
          <a:blip r:embed="rId14"/>
          <a:stretch>
            <a:fillRect/>
          </a:stretch>
        </p:blipFill>
        <p:spPr>
          <a:xfrm>
            <a:off x="9558909" y="4251959"/>
            <a:ext cx="1554480" cy="1554480"/>
          </a:xfrm>
          <a:prstGeom prst="rect">
            <a:avLst/>
          </a:prstGeom>
        </p:spPr>
      </p:pic>
      <p:sp>
        <p:nvSpPr>
          <p:cNvPr id="25" name="TextBox 24">
            <a:hlinkClick r:id="rId12"/>
          </p:cNvPr>
          <p:cNvSpPr txBox="1"/>
          <p:nvPr/>
        </p:nvSpPr>
        <p:spPr>
          <a:xfrm>
            <a:off x="9141713" y="5833872"/>
            <a:ext cx="2388870" cy="274320"/>
          </a:xfrm>
          <a:prstGeom prst="rect">
            <a:avLst/>
          </a:prstGeom>
          <a:noFill/>
        </p:spPr>
        <p:txBody>
          <a:bodyPr wrap="square" lIns="0" rIns="0" tIns="0" bIns="0" anchor="ctr">
            <a:noAutofit/>
          </a:bodyPr>
          <a:lstStyle/>
          <a:p>
            <a:pPr algn="ctr">
              <a:lnSpc>
                <a:spcPct val="100000"/>
              </a:lnSpc>
            </a:pPr>
            <a:r>
              <a:rPr b="0" i="0" sz="750">
                <a:solidFill>
                  <a:srgbClr val="3A3A4A"/>
                </a:solidFill>
                <a:latin typeface="Poppins Medium"/>
              </a:rPr>
              <a:t>Submit a talk for a future meetup</a:t>
            </a:r>
          </a:p>
        </p:txBody>
      </p:sp>
      <p:sp>
        <p:nvSpPr>
          <p:cNvPr id="26" name="TextBox 25"/>
          <p:cNvSpPr txBox="1"/>
          <p:nvPr/>
        </p:nvSpPr>
        <p:spPr>
          <a:xfrm>
            <a:off x="548640" y="6446520"/>
            <a:ext cx="8229600" cy="274320"/>
          </a:xfrm>
          <a:prstGeom prst="rect">
            <a:avLst/>
          </a:prstGeom>
          <a:noFill/>
        </p:spPr>
        <p:txBody>
          <a:bodyPr wrap="square" lIns="0" rIns="0" tIns="0" bIns="0" anchor="ctr">
            <a:noAutofit/>
          </a:bodyPr>
          <a:lstStyle/>
          <a:p>
            <a:pPr algn="l">
              <a:lnSpc>
                <a:spcPct val="100000"/>
              </a:lnSpc>
            </a:pPr>
            <a:r>
              <a:rPr b="0" i="0" sz="1050">
                <a:solidFill>
                  <a:srgbClr val="EDE9F7"/>
                </a:solidFill>
                <a:latin typeface="Poppins Medium"/>
              </a:rPr>
              <a:t>AWS User Group Porto  ×  OutSystems User Group Porto   ·   #8   ·   8 September 2026</a:t>
            </a:r>
          </a:p>
        </p:txBody>
      </p:sp>
      <p:sp>
        <p:nvSpPr>
          <p:cNvPr id="27" name="TextBox 26"/>
          <p:cNvSpPr txBox="1"/>
          <p:nvPr/>
        </p:nvSpPr>
        <p:spPr>
          <a:xfrm>
            <a:off x="10607040" y="6446520"/>
            <a:ext cx="1033271" cy="274320"/>
          </a:xfrm>
          <a:prstGeom prst="rect">
            <a:avLst/>
          </a:prstGeom>
          <a:noFill/>
        </p:spPr>
        <p:txBody>
          <a:bodyPr wrap="square" lIns="0" rIns="0" tIns="0" bIns="0" anchor="ctr">
            <a:noAutofit/>
          </a:bodyPr>
          <a:lstStyle/>
          <a:p>
            <a:pPr algn="r">
              <a:lnSpc>
                <a:spcPct val="100000"/>
              </a:lnSpc>
            </a:pPr>
            <a:r>
              <a:rPr b="0" i="0" sz="1050">
                <a:solidFill>
                  <a:srgbClr val="EDE9F7"/>
                </a:solidFill>
                <a:latin typeface="Poppins Medium"/>
              </a:rPr>
              <a:t>9 /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