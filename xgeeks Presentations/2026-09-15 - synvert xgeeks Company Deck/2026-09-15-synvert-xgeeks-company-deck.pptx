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2E33"/>
              </a:gs>
              <a:gs pos="100000">
                <a:srgbClr val="00EBB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80160" y="1234440"/>
            <a:ext cx="9631375" cy="4389120"/>
          </a:xfrm>
          <a:prstGeom prst="roundRect">
            <a:avLst>
              <a:gd name="adj" fmla="val 4583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17319" y="3044952"/>
            <a:ext cx="935705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8FD9C7"/>
                </a:solidFill>
                <a:latin typeface="Montserrat"/>
              </a:rPr>
              <a:t>MEETUP BANNER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3447288"/>
            <a:ext cx="9357055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950">
                <a:solidFill>
                  <a:srgbClr val="8FD9C7"/>
                </a:solidFill>
                <a:latin typeface="Montserrat Medium"/>
              </a:rPr>
              <a:t>Replace this placeholder with the event banner (16:9) before each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2E33"/>
              </a:gs>
              <a:gs pos="100000">
                <a:srgbClr val="00EBB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936" y="493776"/>
            <a:ext cx="4785995" cy="868680"/>
          </a:xfrm>
          <a:prstGeom prst="roundRect">
            <a:avLst>
              <a:gd name="adj" fmla="val 2105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4785995" cy="86868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411480"/>
            <a:ext cx="82296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3000">
                <a:solidFill>
                  <a:srgbClr val="000000"/>
                </a:solidFill>
                <a:latin typeface="Montserrat"/>
              </a:rPr>
              <a:t>Sponsors &amp;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100" spc="150">
                <a:solidFill>
                  <a:srgbClr val="FFFFFF"/>
                </a:solidFill>
                <a:latin typeface="Montserrat"/>
              </a:rPr>
              <a:t>SPONSORS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002536"/>
            <a:ext cx="2194560" cy="278892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194560" cy="2788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1737360" cy="1417320"/>
          </a:xfrm>
          <a:prstGeom prst="roundRect">
            <a:avLst>
              <a:gd name="adj" fmla="val 10322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473452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8FD9C7"/>
                </a:solidFill>
                <a:latin typeface="Montserrat"/>
              </a:rPr>
              <a:t>SPONSOR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75788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950">
                <a:solidFill>
                  <a:srgbClr val="8FD9C7"/>
                </a:solidFill>
                <a:latin typeface="Montserrat Medium"/>
              </a:rPr>
              <a:t>logo goes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1737360" cy="777240"/>
          </a:xfrm>
          <a:prstGeom prst="roundRect">
            <a:avLst>
              <a:gd name="adj" fmla="val 18823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1463039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8FD9C7"/>
                </a:solidFill>
                <a:latin typeface="Montserrat"/>
              </a:rPr>
              <a:t>Name · kind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4096" y="2002536"/>
            <a:ext cx="2194560" cy="278892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971800" y="1920240"/>
            <a:ext cx="2194560" cy="2788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200400" y="2148840"/>
            <a:ext cx="1737360" cy="1417320"/>
          </a:xfrm>
          <a:prstGeom prst="roundRect">
            <a:avLst>
              <a:gd name="adj" fmla="val 10322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37560" y="2473452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8FD9C7"/>
                </a:solidFill>
                <a:latin typeface="Montserrat"/>
              </a:rPr>
              <a:t>SPONSOR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875788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950">
                <a:solidFill>
                  <a:srgbClr val="8FD9C7"/>
                </a:solidFill>
                <a:latin typeface="Montserrat Medium"/>
              </a:rPr>
              <a:t>logo goes 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703320"/>
            <a:ext cx="1737360" cy="777240"/>
          </a:xfrm>
          <a:prstGeom prst="roundRect">
            <a:avLst>
              <a:gd name="adj" fmla="val 18823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37560" y="3703320"/>
            <a:ext cx="1463039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8FD9C7"/>
                </a:solidFill>
                <a:latin typeface="Montserrat"/>
              </a:rPr>
              <a:t>Name · kind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7255" y="2002536"/>
            <a:ext cx="2194560" cy="278892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394959" y="1920240"/>
            <a:ext cx="2194560" cy="2788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623559" y="2148840"/>
            <a:ext cx="1737360" cy="1417320"/>
          </a:xfrm>
          <a:prstGeom prst="roundRect">
            <a:avLst>
              <a:gd name="adj" fmla="val 10322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760720" y="2473452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8FD9C7"/>
                </a:solidFill>
                <a:latin typeface="Montserrat"/>
              </a:rPr>
              <a:t>SPONSOR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875788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950">
                <a:solidFill>
                  <a:srgbClr val="8FD9C7"/>
                </a:solidFill>
                <a:latin typeface="Montserrat Medium"/>
              </a:rPr>
              <a:t>logo goes here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59" y="3703320"/>
            <a:ext cx="1737360" cy="777240"/>
          </a:xfrm>
          <a:prstGeom prst="roundRect">
            <a:avLst>
              <a:gd name="adj" fmla="val 18823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60720" y="3703320"/>
            <a:ext cx="1463039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8FD9C7"/>
                </a:solidFill>
                <a:latin typeface="Montserrat"/>
              </a:rPr>
              <a:t>Name · kind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600200"/>
            <a:ext cx="12801" cy="3108960"/>
          </a:xfrm>
          <a:prstGeom prst="rect">
            <a:avLst/>
          </a:prstGeom>
          <a:solidFill>
            <a:srgbClr val="8F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66760" y="1600200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100" spc="150">
                <a:solidFill>
                  <a:srgbClr val="FFFFFF"/>
                </a:solidFill>
                <a:latin typeface="Montserrat"/>
              </a:rPr>
              <a:t>PARTNERS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2002536"/>
            <a:ext cx="1523847" cy="2788920"/>
          </a:xfrm>
          <a:prstGeom prst="roundRect">
            <a:avLst>
              <a:gd name="adj" fmla="val 1200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366760" y="1920240"/>
            <a:ext cx="1523847" cy="2788920"/>
          </a:xfrm>
          <a:prstGeom prst="roundRect">
            <a:avLst>
              <a:gd name="adj" fmla="val 12001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549640" y="2148840"/>
            <a:ext cx="1158087" cy="1417320"/>
          </a:xfrm>
          <a:prstGeom prst="roundRect">
            <a:avLst>
              <a:gd name="adj" fmla="val 12633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86800" y="2473452"/>
            <a:ext cx="88376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8FD9C7"/>
                </a:solidFill>
                <a:latin typeface="Montserrat"/>
              </a:rPr>
              <a:t>PARTNER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875788"/>
            <a:ext cx="883767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950">
                <a:solidFill>
                  <a:srgbClr val="8FD9C7"/>
                </a:solidFill>
                <a:latin typeface="Montserrat Medium"/>
              </a:rPr>
              <a:t>logo goes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3703320"/>
            <a:ext cx="1158087" cy="777240"/>
          </a:xfrm>
          <a:prstGeom prst="roundRect">
            <a:avLst>
              <a:gd name="adj" fmla="val 18823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86800" y="3703320"/>
            <a:ext cx="883767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8FD9C7"/>
                </a:solidFill>
                <a:latin typeface="Montserrat"/>
              </a:rPr>
              <a:t>Name · kind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01503" y="2002536"/>
            <a:ext cx="1523847" cy="2788920"/>
          </a:xfrm>
          <a:prstGeom prst="roundRect">
            <a:avLst>
              <a:gd name="adj" fmla="val 1200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0119207" y="1920240"/>
            <a:ext cx="1523847" cy="2788920"/>
          </a:xfrm>
          <a:prstGeom prst="roundRect">
            <a:avLst>
              <a:gd name="adj" fmla="val 12001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0302087" y="2148840"/>
            <a:ext cx="1158087" cy="1417320"/>
          </a:xfrm>
          <a:prstGeom prst="roundRect">
            <a:avLst>
              <a:gd name="adj" fmla="val 12633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439247" y="2473452"/>
            <a:ext cx="88376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8FD9C7"/>
                </a:solidFill>
                <a:latin typeface="Montserrat"/>
              </a:rPr>
              <a:t>PARTNER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39247" y="2875788"/>
            <a:ext cx="883767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950">
                <a:solidFill>
                  <a:srgbClr val="8FD9C7"/>
                </a:solidFill>
                <a:latin typeface="Montserrat Medium"/>
              </a:rPr>
              <a:t>logo goes here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02087" y="3703320"/>
            <a:ext cx="1158087" cy="777240"/>
          </a:xfrm>
          <a:prstGeom prst="roundRect">
            <a:avLst>
              <a:gd name="adj" fmla="val 18823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439247" y="3703320"/>
            <a:ext cx="883767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8FD9C7"/>
                </a:solidFill>
                <a:latin typeface="Montserrat"/>
              </a:rPr>
              <a:t>Name · kind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b="0" i="0" sz="1500">
                <a:solidFill>
                  <a:srgbClr val="FFFFFF"/>
                </a:solidFill>
                <a:latin typeface="Montserrat Medium"/>
              </a:rPr>
              <a:t>A huge thank you to our sponsors and partners for making this meetup possible!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8FD9C7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8FD9C7"/>
                </a:solidFill>
                <a:latin typeface="Montserrat Medium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34198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1493139" cy="548640"/>
          </a:xfrm>
          <a:prstGeom prst="roundRect">
            <a:avLst>
              <a:gd name="adj" fmla="val 50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502920"/>
            <a:ext cx="1237107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000000"/>
                </a:solidFill>
                <a:latin typeface="Montserrat"/>
              </a:rPr>
              <a:t>$ whoami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2800">
                <a:solidFill>
                  <a:srgbClr val="002E33"/>
                </a:solidFill>
                <a:latin typeface="Montserrat"/>
              </a:rPr>
              <a:t>About xgeeks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048255"/>
            <a:ext cx="1474469" cy="1874519"/>
          </a:xfrm>
          <a:prstGeom prst="roundRect">
            <a:avLst>
              <a:gd name="adj" fmla="val 1240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474469" cy="1874519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29158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3000">
                <a:solidFill>
                  <a:srgbClr val="002E33"/>
                </a:solidFill>
                <a:latin typeface="Montserrat"/>
              </a:rPr>
              <a:t>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29158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300">
                <a:solidFill>
                  <a:srgbClr val="5A6B6C"/>
                </a:solidFill>
                <a:latin typeface="Montserrat Medium"/>
              </a:rPr>
              <a:t>People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9725" y="2048255"/>
            <a:ext cx="1474469" cy="1874519"/>
          </a:xfrm>
          <a:prstGeom prst="roundRect">
            <a:avLst>
              <a:gd name="adj" fmla="val 1240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297429" y="1965960"/>
            <a:ext cx="1474469" cy="1874519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88870" y="1965960"/>
            <a:ext cx="129158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3000">
                <a:solidFill>
                  <a:srgbClr val="002E33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8870" y="3063240"/>
            <a:ext cx="129158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300">
                <a:solidFill>
                  <a:srgbClr val="5A6B6C"/>
                </a:solidFill>
                <a:latin typeface="Montserrat Medium"/>
              </a:rPr>
              <a:t>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28515" y="2048255"/>
            <a:ext cx="1474469" cy="1874519"/>
          </a:xfrm>
          <a:prstGeom prst="roundRect">
            <a:avLst>
              <a:gd name="adj" fmla="val 1240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046220" y="1965960"/>
            <a:ext cx="1474469" cy="1874519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37659" y="1965960"/>
            <a:ext cx="129158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3000">
                <a:solidFill>
                  <a:srgbClr val="002E33"/>
                </a:solidFill>
                <a:latin typeface="Montserrat"/>
              </a:rPr>
              <a:t>Top 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7659" y="3063240"/>
            <a:ext cx="129158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300">
                <a:solidFill>
                  <a:srgbClr val="5A6B6C"/>
                </a:solidFill>
                <a:latin typeface="Montserrat Medium"/>
              </a:rPr>
              <a:t>Teamlyzer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7305" y="2048255"/>
            <a:ext cx="1474469" cy="1874519"/>
          </a:xfrm>
          <a:prstGeom prst="roundRect">
            <a:avLst>
              <a:gd name="adj" fmla="val 1240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795009" y="1965960"/>
            <a:ext cx="1474469" cy="1874519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86449" y="1965960"/>
            <a:ext cx="129158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3000">
                <a:solidFill>
                  <a:srgbClr val="002E33"/>
                </a:solidFill>
                <a:latin typeface="Montserrat"/>
              </a:rPr>
              <a:t>9.1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6449" y="3063240"/>
            <a:ext cx="129158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300">
                <a:solidFill>
                  <a:srgbClr val="5A6B6C"/>
                </a:solidFill>
                <a:latin typeface="Montserrat Medium"/>
              </a:rPr>
              <a:t>Employee NPS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" y="4242816"/>
            <a:ext cx="6720840" cy="1874519"/>
          </a:xfrm>
          <a:prstGeom prst="roundRect">
            <a:avLst>
              <a:gd name="adj" fmla="val 975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48640" y="4160520"/>
            <a:ext cx="6720840" cy="1874519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team-8f38ceca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70248"/>
            <a:ext cx="6501384" cy="165506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626096" y="2048255"/>
            <a:ext cx="4096512" cy="4069080"/>
          </a:xfrm>
          <a:prstGeom prst="roundRect">
            <a:avLst>
              <a:gd name="adj" fmla="val 4494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7543800" y="1965960"/>
            <a:ext cx="4096512" cy="40690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18120" y="2194560"/>
            <a:ext cx="3566160" cy="3063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0" i="0" sz="1650">
                <a:solidFill>
                  <a:srgbClr val="002E33"/>
                </a:solidFill>
                <a:latin typeface="Montserrat SemiBold"/>
              </a:rPr>
              <a:t>synvert xgeeks is a team of engineers who accelerate enterprise success with AI-native and Cloud Native engineering — turning DevOps, data and AI into real business impact for the world's leading brands.</a:t>
            </a:r>
          </a:p>
        </p:txBody>
      </p:sp>
      <p:pic>
        <p:nvPicPr>
          <p:cNvPr id="29" name="Picture 28" descr="synvert-xgeeks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377" y="5532120"/>
            <a:ext cx="927724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3400">
                <a:solidFill>
                  <a:srgbClr val="FFFFFF"/>
                </a:solidFill>
                <a:latin typeface="Montserrat"/>
              </a:rPr>
              <a:t>WE'RE</a:t>
            </a:r>
          </a:p>
        </p:txBody>
      </p:sp>
      <p:pic>
        <p:nvPicPr>
          <p:cNvPr id="4" name="Picture 3" descr="synvert-xgeek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060639"/>
            <a:ext cx="8046720" cy="333108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0" y="5623560"/>
            <a:ext cx="8531352" cy="12801"/>
          </a:xfrm>
          <a:prstGeom prst="rect">
            <a:avLst/>
          </a:prstGeom>
          <a:solidFill>
            <a:srgbClr val="8F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80644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200" spc="150">
                <a:solidFill>
                  <a:srgbClr val="8FD9C7"/>
                </a:solidFill>
                <a:latin typeface="Montserrat"/>
              </a:rPr>
              <a:t>PART 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68696" y="5824728"/>
            <a:ext cx="4873752" cy="896112"/>
          </a:xfrm>
          <a:prstGeom prst="roundRect">
            <a:avLst>
              <a:gd name="adj" fmla="val 20408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0" y="5742432"/>
            <a:ext cx="4873752" cy="896112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globallo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872" y="5888736"/>
            <a:ext cx="1788160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8FD9C7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8FD9C7"/>
                </a:solidFill>
                <a:latin typeface="Montserrat Medium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703173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30936" y="996696"/>
            <a:ext cx="6903720" cy="3246120"/>
          </a:xfrm>
          <a:prstGeom prst="roundRect">
            <a:avLst>
              <a:gd name="adj" fmla="val 563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6903720" cy="3246120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6903720" cy="3246120"/>
          </a:xfrm>
          <a:prstGeom prst="roundRect">
            <a:avLst>
              <a:gd name="adj" fmla="val 5633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188720"/>
            <a:ext cx="6126480" cy="1874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b="1" i="0" sz="2900">
                <a:solidFill>
                  <a:srgbClr val="002E33"/>
                </a:solidFill>
                <a:latin typeface="Montserrat"/>
              </a:rPr>
              <a:t>Accelerating enterprise success with AI and Cloud 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b="0" i="0" sz="1400">
                <a:solidFill>
                  <a:srgbClr val="002E33"/>
                </a:solidFill>
                <a:latin typeface="Montserrat Medium"/>
              </a:rPr>
              <a:t>Real business impact — powered by AI-native engineering, backed by GlobalLogic’s global scale.</a:t>
            </a:r>
          </a:p>
        </p:txBody>
      </p:sp>
      <p:pic>
        <p:nvPicPr>
          <p:cNvPr id="9" name="Picture 8" descr="rocket-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072" y="1417320"/>
            <a:ext cx="3602574" cy="3840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526280"/>
            <a:ext cx="2559253" cy="438912"/>
          </a:xfrm>
          <a:prstGeom prst="roundRect">
            <a:avLst>
              <a:gd name="adj" fmla="val 50000"/>
            </a:avLst>
          </a:prstGeom>
          <a:solidFill>
            <a:srgbClr val="00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2559253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FFFFFF"/>
                </a:solidFill>
                <a:latin typeface="Montserrat"/>
              </a:rPr>
              <a:t>A GlobalLogic Company</a:t>
            </a:r>
          </a:p>
        </p:txBody>
      </p:sp>
      <p:pic>
        <p:nvPicPr>
          <p:cNvPr id="12" name="Picture 11" descr="synvert-xgeeks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3628" y="5806440"/>
            <a:ext cx="1281143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34198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502920"/>
            <a:ext cx="5779007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600">
                <a:solidFill>
                  <a:srgbClr val="000000"/>
                </a:solidFill>
                <a:latin typeface="Montserrat"/>
              </a:rPr>
              <a:t>$ kubectl apply -f ./expertise.yaml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350" spc="30">
                <a:solidFill>
                  <a:srgbClr val="5A6B6C"/>
                </a:solidFill>
                <a:latin typeface="Montserrat SemiBold"/>
              </a:rPr>
              <a:t>AI-native engineering,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048255"/>
            <a:ext cx="2567863" cy="3703320"/>
          </a:xfrm>
          <a:prstGeom prst="roundRect">
            <a:avLst>
              <a:gd name="adj" fmla="val 712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2567863" cy="3703320"/>
          </a:xfrm>
          <a:prstGeom prst="roundRect">
            <a:avLst>
              <a:gd name="adj" fmla="val 7121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2110663" cy="3703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1" i="0" sz="2100">
                <a:solidFill>
                  <a:srgbClr val="002E33"/>
                </a:solidFill>
                <a:latin typeface="Montserrat"/>
              </a:rPr>
              <a:t>Cloud Native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3119" y="2048255"/>
            <a:ext cx="2567863" cy="3703320"/>
          </a:xfrm>
          <a:prstGeom prst="roundRect">
            <a:avLst>
              <a:gd name="adj" fmla="val 712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390823" y="1965960"/>
            <a:ext cx="2567863" cy="3703320"/>
          </a:xfrm>
          <a:prstGeom prst="roundRect">
            <a:avLst>
              <a:gd name="adj" fmla="val 7121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2110663" cy="3703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1" i="0" sz="2100">
                <a:solidFill>
                  <a:srgbClr val="002E33"/>
                </a:solidFill>
                <a:latin typeface="Montserrat"/>
              </a:rPr>
              <a:t>Platform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303" y="2048255"/>
            <a:ext cx="2567863" cy="3703320"/>
          </a:xfrm>
          <a:prstGeom prst="roundRect">
            <a:avLst>
              <a:gd name="adj" fmla="val 712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233007" y="1965960"/>
            <a:ext cx="2567863" cy="3703320"/>
          </a:xfrm>
          <a:prstGeom prst="roundRect">
            <a:avLst>
              <a:gd name="adj" fmla="val 7121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61607" y="1965960"/>
            <a:ext cx="2110663" cy="3703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1" i="0" sz="2100">
                <a:solidFill>
                  <a:srgbClr val="002E33"/>
                </a:solidFill>
                <a:latin typeface="Montserrat"/>
              </a:rPr>
              <a:t>AI Engineering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7487" y="2048255"/>
            <a:ext cx="2567863" cy="3703320"/>
          </a:xfrm>
          <a:prstGeom prst="roundRect">
            <a:avLst>
              <a:gd name="adj" fmla="val 712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075191" y="1965960"/>
            <a:ext cx="2567863" cy="3703320"/>
          </a:xfrm>
          <a:prstGeom prst="roundRect">
            <a:avLst>
              <a:gd name="adj" fmla="val 7121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03791" y="1965960"/>
            <a:ext cx="2110663" cy="3703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1" i="0" sz="2100">
                <a:solidFill>
                  <a:srgbClr val="002E33"/>
                </a:solidFill>
                <a:latin typeface="Montserrat"/>
              </a:rPr>
              <a:t>Data Engineering</a:t>
            </a:r>
          </a:p>
        </p:txBody>
      </p:sp>
      <p:pic>
        <p:nvPicPr>
          <p:cNvPr id="19" name="Picture 18" descr="lightbulb-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0994" y="320040"/>
            <a:ext cx="917850" cy="1737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29626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457200"/>
            <a:ext cx="3950207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000000"/>
                </a:solidFill>
                <a:latin typeface="Montserrat"/>
              </a:rPr>
              <a:t>$ kubectl apply -f ./clients.yaml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ercedes-b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30" y="1575699"/>
            <a:ext cx="1369527" cy="9908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425141" y="1280160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425141" y="1280160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tbl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332" y="1673953"/>
            <a:ext cx="1369527" cy="7943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01642" y="1280160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01642" y="1280160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overfl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833" y="1958490"/>
            <a:ext cx="1369527" cy="22525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78143" y="1280160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178143" y="1280160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als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334" y="1913491"/>
            <a:ext cx="1369527" cy="31524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54644" y="1280160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054644" y="1280160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telek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140" y="1501627"/>
            <a:ext cx="960917" cy="11389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931146" y="1280160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931146" y="1280160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lichtbli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2336" y="1884647"/>
            <a:ext cx="1369527" cy="372937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3026663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48640" y="3026663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american-tow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830" y="3517654"/>
            <a:ext cx="1369527" cy="59993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425141" y="3026663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425141" y="3026663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ieme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6332" y="3701486"/>
            <a:ext cx="1369527" cy="23226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301642" y="3026663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4301642" y="3026663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datacam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2833" y="3636842"/>
            <a:ext cx="1369527" cy="36155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178143" y="3026663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178143" y="3026663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bm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4609" y="3248131"/>
            <a:ext cx="1138976" cy="113897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8054644" y="3026663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054644" y="3026663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putzmeist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5835" y="3483797"/>
            <a:ext cx="1369527" cy="66764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9931146" y="3026663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931146" y="3026663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mbiti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02336" y="3381418"/>
            <a:ext cx="1369527" cy="872403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486890" y="4773167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486890" y="4773167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die-continenta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8081" y="5192866"/>
            <a:ext cx="1369527" cy="74251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3363391" y="4773167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363391" y="4773167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cjr-renewable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34582" y="5311059"/>
            <a:ext cx="1369527" cy="506129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239893" y="4773167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239893" y="4773167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omi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11083" y="5307337"/>
            <a:ext cx="1369527" cy="513572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7116394" y="4773167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7116394" y="4773167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3" name="Picture 52" descr="hitachi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7585" y="5359609"/>
            <a:ext cx="1369527" cy="40902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8992895" y="4773167"/>
            <a:ext cx="1711909" cy="1581911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8992895" y="4773167"/>
            <a:ext cx="1711909" cy="1581911"/>
          </a:xfrm>
          <a:prstGeom prst="roundRect">
            <a:avLst>
              <a:gd name="adj" fmla="val 8092"/>
            </a:avLst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helveti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64086" y="5390441"/>
            <a:ext cx="1369527" cy="34736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291693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680960" cy="777240"/>
          </a:xfrm>
          <a:prstGeom prst="roundRect">
            <a:avLst>
              <a:gd name="adj" fmla="val 49411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50292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2600">
                <a:solidFill>
                  <a:srgbClr val="002E33"/>
                </a:solidFill>
                <a:latin typeface="Montserrat"/>
              </a:rPr>
              <a:t>What About </a:t>
            </a:r>
            <a:r>
              <a:rPr b="1" i="1" sz="2600">
                <a:solidFill>
                  <a:srgbClr val="FFFFFF"/>
                </a:solidFill>
                <a:latin typeface="Montserrat"/>
              </a:rPr>
              <a:t>[Community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682496"/>
            <a:ext cx="5486400" cy="4434840"/>
          </a:xfrm>
          <a:prstGeom prst="roundRect">
            <a:avLst>
              <a:gd name="adj" fmla="val 412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86400" cy="4434840"/>
          </a:xfrm>
          <a:prstGeom prst="roundRect">
            <a:avLst>
              <a:gd name="adj" fmla="val 412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029200" cy="3977639"/>
          </a:xfrm>
          <a:prstGeom prst="roundRect">
            <a:avLst>
              <a:gd name="adj" fmla="val 3678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34335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8FD9C7"/>
                </a:solidFill>
                <a:latin typeface="Montserrat"/>
              </a:rPr>
              <a:t>Community screenshot / photo goes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35907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950">
                <a:solidFill>
                  <a:srgbClr val="8FD9C7"/>
                </a:solidFill>
                <a:latin typeface="Montserrat Medium"/>
              </a:rPr>
              <a:t>e.g. the Meetup.com group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682496"/>
            <a:ext cx="5285232" cy="4434840"/>
          </a:xfrm>
          <a:prstGeom prst="roundRect">
            <a:avLst>
              <a:gd name="adj" fmla="val 412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355080" y="1600200"/>
            <a:ext cx="5285232" cy="4434840"/>
          </a:xfrm>
          <a:prstGeom prst="roundRect">
            <a:avLst>
              <a:gd name="adj" fmla="val 412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846320" cy="795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002E33"/>
                </a:solidFill>
                <a:latin typeface="Montserrat SemiBold"/>
              </a:rPr>
              <a:t>•  [XXX] members on Meetup 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24328"/>
            <a:ext cx="4846320" cy="795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002E33"/>
                </a:solidFill>
                <a:latin typeface="Montserrat SemiBold"/>
              </a:rPr>
              <a:t>•  [XX]+ members on Slack 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19856"/>
            <a:ext cx="4846320" cy="795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002E33"/>
                </a:solidFill>
                <a:latin typeface="Montserrat SemiBold"/>
              </a:rPr>
              <a:t>•  [X] meetups so far 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15383"/>
            <a:ext cx="4846320" cy="795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002E33"/>
                </a:solidFill>
                <a:latin typeface="Montserrat SemiBold"/>
              </a:rPr>
              <a:t>•  1 meetup per [cadence]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010912"/>
            <a:ext cx="4846320" cy="795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002E33"/>
                </a:solidFill>
                <a:latin typeface="Montserrat SemiBold"/>
              </a:rPr>
              <a:t>•  [XXX]+ attendees (avg [XX] per meetup) 🎟️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34198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3749039" cy="548640"/>
          </a:xfrm>
          <a:prstGeom prst="roundRect">
            <a:avLst>
              <a:gd name="adj" fmla="val 50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502920"/>
            <a:ext cx="3493007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700">
                <a:solidFill>
                  <a:srgbClr val="000000"/>
                </a:solidFill>
                <a:latin typeface="Montserrat"/>
              </a:rPr>
              <a:t>Tech Talks Formats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364327" cy="128016"/>
          </a:xfrm>
          <a:prstGeom prst="rect">
            <a:avLst/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30936" y="1810512"/>
            <a:ext cx="5364327" cy="4297680"/>
          </a:xfrm>
          <a:prstGeom prst="roundRect">
            <a:avLst>
              <a:gd name="adj" fmla="val 425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728216"/>
            <a:ext cx="5364327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iseu-tech-talks-for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2057400"/>
            <a:ext cx="2185987" cy="1554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4400" y="3794760"/>
            <a:ext cx="4632807" cy="10972"/>
          </a:xfrm>
          <a:prstGeom prst="rect">
            <a:avLst/>
          </a:prstGeom>
          <a:solidFill>
            <a:srgbClr val="E5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632807" cy="1874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0" i="0" sz="1400">
                <a:solidFill>
                  <a:srgbClr val="5A6B6C"/>
                </a:solidFill>
                <a:latin typeface="Montserrat Medium"/>
              </a:rPr>
              <a:t>[Short description of Viseu Tech Talks — cadence, focus, audience]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600200"/>
            <a:ext cx="5364327" cy="128016"/>
          </a:xfrm>
          <a:prstGeom prst="rect">
            <a:avLst/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361023" y="1810512"/>
            <a:ext cx="5364327" cy="4297680"/>
          </a:xfrm>
          <a:prstGeom prst="roundRect">
            <a:avLst>
              <a:gd name="adj" fmla="val 425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278727" y="1728216"/>
            <a:ext cx="5364327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644487" y="2057400"/>
            <a:ext cx="4632807" cy="1554480"/>
          </a:xfrm>
          <a:prstGeom prst="roundRect">
            <a:avLst>
              <a:gd name="adj" fmla="val 9411"/>
            </a:avLst>
          </a:prstGeom>
          <a:noFill/>
          <a:ln w="22225">
            <a:solidFill>
              <a:srgbClr val="8FD9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81647" y="2057400"/>
            <a:ext cx="4358487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8FD9C7"/>
                </a:solidFill>
                <a:latin typeface="Montserrat"/>
              </a:rPr>
              <a:t>Porto Tech Talks logo goes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4487" y="3794760"/>
            <a:ext cx="4632807" cy="10972"/>
          </a:xfrm>
          <a:prstGeom prst="rect">
            <a:avLst/>
          </a:prstGeom>
          <a:solidFill>
            <a:srgbClr val="E5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4487" y="3977639"/>
            <a:ext cx="4632807" cy="1874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0" i="0" sz="1400">
                <a:solidFill>
                  <a:srgbClr val="5A6B6C"/>
                </a:solidFill>
                <a:latin typeface="Montserrat Medium"/>
              </a:rPr>
              <a:t>[Short description of Porto Tech Talks — cadence, focus, audience]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29626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4480560" cy="548640"/>
          </a:xfrm>
          <a:prstGeom prst="roundRect">
            <a:avLst>
              <a:gd name="adj" fmla="val 50000"/>
            </a:avLst>
          </a:prstGeom>
          <a:solidFill>
            <a:srgbClr val="00E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457200"/>
            <a:ext cx="422452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000000"/>
                </a:solidFill>
                <a:latin typeface="Montserrat"/>
              </a:rPr>
              <a:t>$ kubectl apply -f ./community.yaml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0" i="0" sz="1350">
                <a:solidFill>
                  <a:srgbClr val="5A6B6C"/>
                </a:solidFill>
                <a:latin typeface="Montserrat SemiBold"/>
              </a:rPr>
              <a:t>synvert xgeeks acts as a driving force in tech ecosystems, growing and connecting communities.</a:t>
            </a:r>
          </a:p>
        </p:txBody>
      </p:sp>
      <p:pic>
        <p:nvPicPr>
          <p:cNvPr id="7" name="Picture 6" descr="binocu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20426"/>
            <a:ext cx="1097280" cy="6050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" y="1682496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viseu-tech-talks-form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612" y="1742846"/>
            <a:ext cx="1243698" cy="8844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2569463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Viseu Tech Talks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8322" y="1682496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26026" y="1600200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leiria-tech-tal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998" y="1742846"/>
            <a:ext cx="1243698" cy="8844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63186" y="2569463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Leiria Tech Talks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5708" y="1682496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103412" y="1600200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lisbon-genai-commun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759" y="1742846"/>
            <a:ext cx="2930948" cy="8844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40572" y="2569463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Lisbon GenAI Community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" y="3346703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48640" y="3264408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aws-user-group-por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904" y="3407054"/>
            <a:ext cx="1011113" cy="8844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800" y="4233672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AWS User Group Porto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8322" y="3346703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326026" y="3264408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cloud-native-lisb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660" y="3407054"/>
            <a:ext cx="2096373" cy="8844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63186" y="4233672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Cloud Native Lisbon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5708" y="3346703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103412" y="3264408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cloud-native-port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8650" y="3407054"/>
            <a:ext cx="649166" cy="8844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40572" y="4233672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Cloud Native Porto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" y="5010912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48640" y="4928616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devops-brag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3246" y="5071262"/>
            <a:ext cx="1450428" cy="8844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5800" y="5897879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DevOps Braga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8322" y="5010912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326026" y="4928616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leaddev-meetup-lisb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1439" y="5071262"/>
            <a:ext cx="1768815" cy="8844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463186" y="5897879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LeadDev Meetup — Lisbon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5708" y="5010912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103412" y="4928616"/>
            <a:ext cx="3539642" cy="1426463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devops-lisb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605" y="5071262"/>
            <a:ext cx="1641256" cy="8844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40572" y="5897879"/>
            <a:ext cx="326532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150">
                <a:solidFill>
                  <a:srgbClr val="002E33"/>
                </a:solidFill>
                <a:latin typeface="Montserrat"/>
              </a:rPr>
              <a:t>DevOps Lisbon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synvert xgeeks, a GlobalLogic company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5A6B6C"/>
                </a:solidFill>
                <a:latin typeface="Montserrat Medium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