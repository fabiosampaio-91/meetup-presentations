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hyperlink" Target="https://community2.cncf.io/events/details/cncf-kcd-porto-presents-kcd-porto-2026-collab-with-devops-days-portugal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hyperlink" Target="https://linktr.ee/xgeeks" TargetMode="External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sbon-genai-16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91693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318374" cy="777240"/>
          </a:xfrm>
          <a:prstGeom prst="roundRect">
            <a:avLst>
              <a:gd name="adj" fmla="val 4941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502920"/>
            <a:ext cx="6952614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2600">
                <a:solidFill>
                  <a:srgbClr val="FFFFFF"/>
                </a:solidFill>
                <a:latin typeface="Montserrat"/>
              </a:rPr>
              <a:t>What About </a:t>
            </a:r>
            <a:r>
              <a:rPr b="1" i="0" sz="2600">
                <a:solidFill>
                  <a:srgbClr val="F2A890"/>
                </a:solidFill>
                <a:latin typeface="Montserrat"/>
              </a:rPr>
              <a:t>Lisbon GenAI Community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773936"/>
            <a:ext cx="4160520" cy="4480560"/>
          </a:xfrm>
          <a:prstGeom prst="roundRect">
            <a:avLst>
              <a:gd name="adj" fmla="val 439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4160520" cy="4480560"/>
          </a:xfrm>
          <a:prstGeom prst="roundRect">
            <a:avLst>
              <a:gd name="adj" fmla="val 4395"/>
            </a:avLst>
          </a:prstGeom>
          <a:solidFill>
            <a:srgbClr val="000000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isbon-genai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174138"/>
            <a:ext cx="3611880" cy="35155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57216" y="1773936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074920" y="1691640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49240" y="1783080"/>
            <a:ext cx="259689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000">
                <a:solidFill>
                  <a:srgbClr val="000000"/>
                </a:solidFill>
                <a:latin typeface="Montserrat"/>
              </a:rPr>
              <a:t>1,387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441448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4A4A4A"/>
                </a:solidFill>
                <a:latin typeface="Montserrat SemiBold"/>
              </a:rPr>
              <a:t>members on Meetup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73936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94776" y="1691640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69096" y="1783080"/>
            <a:ext cx="259689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000">
                <a:solidFill>
                  <a:srgbClr val="000000"/>
                </a:solidFill>
                <a:latin typeface="Montserrat"/>
              </a:rPr>
              <a:t>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9096" y="2441448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4A4A4A"/>
                </a:solidFill>
                <a:latin typeface="Montserrat SemiBold"/>
              </a:rPr>
              <a:t>rating on Meetup (101 ratings)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3291839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074920" y="3209544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49240" y="3300984"/>
            <a:ext cx="259689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000">
                <a:solidFill>
                  <a:srgbClr val="000000"/>
                </a:solidFill>
                <a:latin typeface="Montserrat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959352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4A4A4A"/>
                </a:solidFill>
                <a:latin typeface="Montserrat SemiBold"/>
              </a:rPr>
              <a:t>organizers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3291839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494776" y="3209544"/>
            <a:ext cx="3145536" cy="1298448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69096" y="3300984"/>
            <a:ext cx="259689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000">
                <a:solidFill>
                  <a:srgbClr val="000000"/>
                </a:solidFill>
                <a:latin typeface="Montserrat"/>
              </a:rPr>
              <a:t>#16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6" y="3959352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4A4A4A"/>
                </a:solidFill>
                <a:latin typeface="Montserrat SemiBold"/>
              </a:rPr>
              <a:t>meetup · Oct 20th · Riskified Lisbon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57216" y="4864607"/>
            <a:ext cx="6565392" cy="1389888"/>
          </a:xfrm>
          <a:prstGeom prst="roundRect">
            <a:avLst>
              <a:gd name="adj" fmla="val 13157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074920" y="4782312"/>
            <a:ext cx="6565392" cy="1389888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349240" y="4910327"/>
            <a:ext cx="6016752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0" i="0" sz="1350">
                <a:solidFill>
                  <a:srgbClr val="111111"/>
                </a:solidFill>
                <a:latin typeface="Montserrat SemiBold"/>
              </a:rPr>
              <a:t>Our community is dedicated to connecting enthusiasts, developers, and professionals interested in the broader spectrum of Generative AI technologies.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696712"/>
            <a:ext cx="601675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100">
                <a:solidFill>
                  <a:srgbClr val="4A4A4A"/>
                </a:solidFill>
                <a:latin typeface="Montserrat Medium"/>
              </a:rPr>
              <a:t>Brought to you by our sponsor, synvert xgeeks, a GlobalLogic company.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30936" y="493776"/>
            <a:ext cx="4785995" cy="868680"/>
          </a:xfrm>
          <a:prstGeom prst="roundRect">
            <a:avLst>
              <a:gd name="adj" fmla="val 2105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4785995" cy="86868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411480"/>
            <a:ext cx="432879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000">
                <a:solidFill>
                  <a:srgbClr val="000000"/>
                </a:solidFill>
                <a:latin typeface="Montserrat"/>
              </a:rPr>
              <a:t>Sponsors &amp;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100" spc="150">
                <a:solidFill>
                  <a:srgbClr val="000000"/>
                </a:solidFill>
                <a:latin typeface="Montserrat"/>
              </a:rPr>
              <a:t>SPONSORS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93976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ynvert-xgeeks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62" y="2724924"/>
            <a:ext cx="1524059" cy="6309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59" y="4023360"/>
            <a:ext cx="1882063" cy="10972"/>
          </a:xfrm>
          <a:prstGeom prst="rect">
            <a:avLst/>
          </a:prstGeom>
          <a:solidFill>
            <a:srgbClr val="E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064943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synvert xgeeks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5959" y="2093976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253663" y="2011680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riskifi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983" y="2880404"/>
            <a:ext cx="1882063" cy="3199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27983" y="4023360"/>
            <a:ext cx="1882063" cy="10972"/>
          </a:xfrm>
          <a:prstGeom prst="rect">
            <a:avLst/>
          </a:prstGeom>
          <a:solidFill>
            <a:srgbClr val="E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36543" y="4114800"/>
            <a:ext cx="2064943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Riskified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164592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100" spc="150">
                <a:solidFill>
                  <a:srgbClr val="000000"/>
                </a:solidFill>
                <a:latin typeface="Montserrat"/>
              </a:rPr>
              <a:t>PARTNERS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9623" y="2093976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507327" y="2011680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ai-lisb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889" y="2748219"/>
            <a:ext cx="1645580" cy="5843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781647" y="4023360"/>
            <a:ext cx="1882063" cy="10972"/>
          </a:xfrm>
          <a:prstGeom prst="rect">
            <a:avLst/>
          </a:prstGeom>
          <a:solidFill>
            <a:srgbClr val="E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90207" y="4114800"/>
            <a:ext cx="2064943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AI Lisbon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4647" y="2093976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212351" y="2011680"/>
            <a:ext cx="2430703" cy="2834640"/>
          </a:xfrm>
          <a:prstGeom prst="roundRect">
            <a:avLst>
              <a:gd name="adj" fmla="val 7523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i-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0459" y="2695613"/>
            <a:ext cx="1394488" cy="689533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486671" y="4023360"/>
            <a:ext cx="1882063" cy="10972"/>
          </a:xfrm>
          <a:prstGeom prst="rect">
            <a:avLst/>
          </a:prstGeom>
          <a:solidFill>
            <a:srgbClr val="E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95231" y="4114800"/>
            <a:ext cx="2064943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500">
                <a:solidFill>
                  <a:srgbClr val="000000"/>
                </a:solidFill>
                <a:latin typeface="Montserrat"/>
              </a:rPr>
              <a:t>ai.pt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6703" y="1645920"/>
            <a:ext cx="18288" cy="320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b="0" i="0" sz="1700">
                <a:solidFill>
                  <a:srgbClr val="000000"/>
                </a:solidFill>
                <a:latin typeface="Montserrat SemiBold"/>
              </a:rPr>
              <a:t>A huge thank you to our sponsors and partners for making this meetup possible!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74573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30936" y="768096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68580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3400">
                <a:solidFill>
                  <a:srgbClr val="FFFFFF"/>
                </a:solidFill>
                <a:latin typeface="Montserrat"/>
              </a:rPr>
              <a:t>WE'RE</a:t>
            </a:r>
          </a:p>
        </p:txBody>
      </p:sp>
      <p:pic>
        <p:nvPicPr>
          <p:cNvPr id="7" name="Picture 6" descr="synvert-xgeek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83080"/>
            <a:ext cx="7841483" cy="32461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63040" y="5257800"/>
            <a:ext cx="9262872" cy="12801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63040" y="54406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200" spc="150">
                <a:solidFill>
                  <a:srgbClr val="BDBDBD"/>
                </a:solidFill>
                <a:latin typeface="Montserrat"/>
              </a:rPr>
              <a:t>PART 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8392" y="5394960"/>
            <a:ext cx="3017520" cy="804672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globallog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698" y="5458968"/>
            <a:ext cx="2004906" cy="676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703173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30936" y="996696"/>
            <a:ext cx="6903720" cy="3291840"/>
          </a:xfrm>
          <a:prstGeom prst="roundRect">
            <a:avLst>
              <a:gd name="adj" fmla="val 555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6903720" cy="3291840"/>
          </a:xfrm>
          <a:prstGeom prst="roundRect">
            <a:avLst>
              <a:gd name="adj" fmla="val 5555"/>
            </a:avLst>
          </a:prstGeom>
          <a:solidFill>
            <a:srgbClr val="000000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612648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b="1" i="0" sz="3000">
                <a:solidFill>
                  <a:srgbClr val="FFFFFF"/>
                </a:solidFill>
                <a:latin typeface="Montserrat"/>
              </a:rPr>
              <a:t>Accelerating enterprise success with AI and Cloud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b="0" i="0" sz="1500">
                <a:solidFill>
                  <a:srgbClr val="F2A890"/>
                </a:solidFill>
                <a:latin typeface="Montserrat SemiBold"/>
              </a:rPr>
              <a:t>By making the promise of DevOps and AI impact a reality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57937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257937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300">
                <a:solidFill>
                  <a:srgbClr val="000000"/>
                </a:solidFill>
                <a:latin typeface="Montserrat"/>
              </a:rPr>
              <a:t>A GlobalLogic Company</a:t>
            </a:r>
          </a:p>
        </p:txBody>
      </p:sp>
      <p:pic>
        <p:nvPicPr>
          <p:cNvPr id="10" name="Picture 9" descr="rocket-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16191"/>
            <a:ext cx="3840480" cy="40940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555480" y="5486400"/>
            <a:ext cx="2084831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ynvert-xgeeks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969" y="5559552"/>
            <a:ext cx="1457853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3648964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339293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FFFFFF"/>
                </a:solidFill>
                <a:latin typeface="Montserrat"/>
              </a:rPr>
              <a:t>$ kubectl apply -f ./people.yaml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773936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600">
                <a:solidFill>
                  <a:srgbClr val="000000"/>
                </a:solidFill>
                <a:latin typeface="Montserrat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3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400">
                <a:solidFill>
                  <a:srgbClr val="4A4A4A"/>
                </a:solidFill>
                <a:latin typeface="Montserrat SemiBold"/>
              </a:rPr>
              <a:t>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5" y="1773936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383279" y="1691640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20439" y="19659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600">
                <a:solidFill>
                  <a:srgbClr val="000000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953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400">
                <a:solidFill>
                  <a:srgbClr val="4A4A4A"/>
                </a:solidFill>
                <a:latin typeface="Montserrat SemiBold"/>
              </a:rPr>
              <a:t>Locations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" y="4059935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4251959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600">
                <a:solidFill>
                  <a:srgbClr val="000000"/>
                </a:solidFill>
                <a:latin typeface="Montserrat"/>
              </a:rPr>
              <a:t>Top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39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400">
                <a:solidFill>
                  <a:srgbClr val="4A4A4A"/>
                </a:solidFill>
                <a:latin typeface="Montserrat SemiBold"/>
              </a:rPr>
              <a:t>Teamlyzer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5" y="4059935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383279" y="3977639"/>
            <a:ext cx="2560320" cy="20116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20439" y="4251959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3600">
                <a:solidFill>
                  <a:srgbClr val="000000"/>
                </a:solidFill>
                <a:latin typeface="Montserrat"/>
              </a:rPr>
              <a:t>9.1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5239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400">
                <a:solidFill>
                  <a:srgbClr val="4A4A4A"/>
                </a:solidFill>
                <a:latin typeface="Montserrat SemiBold"/>
              </a:rPr>
              <a:t>Employee NPS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5" y="1773936"/>
            <a:ext cx="5287975" cy="429768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355079" y="1691640"/>
            <a:ext cx="5287975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team-6586cd34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5" y="1819656"/>
            <a:ext cx="5031943" cy="4041648"/>
          </a:xfrm>
          <a:prstGeom prst="rect">
            <a:avLst/>
          </a:prstGeom>
        </p:spPr>
      </p:pic>
      <p:pic>
        <p:nvPicPr>
          <p:cNvPr id="25" name="Picture 24" descr="astronaut-helm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79967"/>
            <a:ext cx="1188720" cy="13145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3896614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364058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FFFFFF"/>
                </a:solidFill>
                <a:latin typeface="Montserrat"/>
              </a:rPr>
              <a:t>$ kubectl apply -f ./expertise.yaml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956815"/>
            <a:ext cx="3484778" cy="4114800"/>
          </a:xfrm>
          <a:prstGeom prst="roundRect">
            <a:avLst>
              <a:gd name="adj" fmla="val 5247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484778" cy="4114800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4000">
                <a:solidFill>
                  <a:srgbClr val="F8552C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2844698" cy="2057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8000"/>
              </a:lnSpc>
            </a:pPr>
            <a:r>
              <a:rPr b="1" i="0" sz="2500">
                <a:solidFill>
                  <a:srgbClr val="000000"/>
                </a:solidFill>
                <a:latin typeface="Montserrat"/>
              </a:rPr>
              <a:t>Cloud Native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5754" y="1956815"/>
            <a:ext cx="3484778" cy="4114800"/>
          </a:xfrm>
          <a:prstGeom prst="roundRect">
            <a:avLst>
              <a:gd name="adj" fmla="val 5247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53458" y="1874519"/>
            <a:ext cx="3484778" cy="4114800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73498" y="21031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4000">
                <a:solidFill>
                  <a:srgbClr val="F8552C"/>
                </a:solidFill>
                <a:latin typeface="Montserra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657600"/>
            <a:ext cx="2844698" cy="2057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8000"/>
              </a:lnSpc>
            </a:pPr>
            <a:r>
              <a:rPr b="1" i="0" sz="2500">
                <a:solidFill>
                  <a:srgbClr val="000000"/>
                </a:solidFill>
                <a:latin typeface="Montserrat"/>
              </a:rPr>
              <a:t>Platform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0572" y="1956815"/>
            <a:ext cx="3484778" cy="4114800"/>
          </a:xfrm>
          <a:prstGeom prst="roundRect">
            <a:avLst>
              <a:gd name="adj" fmla="val 5247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158276" y="1874519"/>
            <a:ext cx="3484778" cy="4114800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78316" y="21031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4000">
                <a:solidFill>
                  <a:srgbClr val="F8552C"/>
                </a:solidFill>
                <a:latin typeface="Montserra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8316" y="3657600"/>
            <a:ext cx="2844698" cy="2057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8000"/>
              </a:lnSpc>
            </a:pPr>
            <a:r>
              <a:rPr b="1" i="0" sz="2500">
                <a:solidFill>
                  <a:srgbClr val="000000"/>
                </a:solidFill>
                <a:latin typeface="Montserrat"/>
              </a:rPr>
              <a:t>AI Engineering</a:t>
            </a:r>
          </a:p>
        </p:txBody>
      </p:sp>
      <p:pic>
        <p:nvPicPr>
          <p:cNvPr id="18" name="Picture 17" descr="lightbulb-pla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931" y="182879"/>
            <a:ext cx="956496" cy="18105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3626739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337070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FFFFFF"/>
                </a:solidFill>
                <a:latin typeface="Montserrat"/>
              </a:rPr>
              <a:t>$ kubectl apply -f ./clients.yaml</a:t>
            </a:r>
          </a:p>
        </p:txBody>
      </p:sp>
      <p:pic>
        <p:nvPicPr>
          <p:cNvPr id="6" name="Picture 5" descr="hand-pla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03652"/>
            <a:ext cx="1234440" cy="10465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" y="1499616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ercedes-ben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12" y="1781433"/>
            <a:ext cx="1036723" cy="7500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10485" y="1499616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428189" y="1417320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bm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524" y="1796460"/>
            <a:ext cx="719999" cy="71999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90034" y="1499616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07738" y="1417320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elek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894" y="1865734"/>
            <a:ext cx="490357" cy="58145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69583" y="1499616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187287" y="1417320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tbl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919" y="1882292"/>
            <a:ext cx="945405" cy="54833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49132" y="1499616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66836" y="1417320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american-tow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1420" y="1918115"/>
            <a:ext cx="1087501" cy="4766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028682" y="1499616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946386" y="1417320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lichtbli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0978" y="1970140"/>
            <a:ext cx="1367485" cy="37263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0936" y="316077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48640" y="307847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salsif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3660359"/>
            <a:ext cx="1367485" cy="31452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510485" y="316077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2428189" y="307847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coverfle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2781" y="3705162"/>
            <a:ext cx="1367485" cy="22491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390034" y="316077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307738" y="307847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datacam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2330" y="3637111"/>
            <a:ext cx="1367485" cy="36101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69583" y="316077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87287" y="307847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putzmeist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0020" y="3566263"/>
            <a:ext cx="1031204" cy="50271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149132" y="316077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066836" y="307847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mbi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0890" y="3490017"/>
            <a:ext cx="1028561" cy="65520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028682" y="316077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946386" y="307847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hitach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35985" y="3620879"/>
            <a:ext cx="1317469" cy="39348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2510485" y="482193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2428189" y="473963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helveti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92781" y="5305356"/>
            <a:ext cx="1367485" cy="34684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390034" y="482193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4307738" y="473963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die-continental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7156" y="5213704"/>
            <a:ext cx="977833" cy="53015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269583" y="482193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6187287" y="473963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cjr-renewable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4926" y="5266563"/>
            <a:ext cx="1221390" cy="424433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8149132" y="4821935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066836" y="4739639"/>
            <a:ext cx="1696669" cy="1478279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omi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27294" y="5258326"/>
            <a:ext cx="1175753" cy="4409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4115688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38596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FFFFFF"/>
                </a:solidFill>
                <a:latin typeface="Montserrat"/>
              </a:rPr>
              <a:t>$ kubectl apply -f ./community.yaml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b="0" i="0" sz="1400">
                <a:solidFill>
                  <a:srgbClr val="000000"/>
                </a:solidFill>
                <a:latin typeface="Montserrat SemiBold"/>
              </a:rPr>
              <a:t>synvert xgeeks acts as a driving force in tech ecosystems, helping to grow and connect communities.</a:t>
            </a:r>
          </a:p>
        </p:txBody>
      </p:sp>
      <p:pic>
        <p:nvPicPr>
          <p:cNvPr id="7" name="Picture 6" descr="binocul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342" y="274320"/>
            <a:ext cx="1368915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" y="1819656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lisbon-genai-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783" y="1828800"/>
            <a:ext cx="937259" cy="8412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2670048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FFFFFF"/>
                </a:solidFill>
                <a:latin typeface="Montserrat"/>
              </a:rPr>
              <a:t>Lisbon GenAI Community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1370" y="1819656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29074" y="1737360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leiria-tech-tal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113" y="1828800"/>
            <a:ext cx="1183467" cy="8412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66234" y="2670048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Leiria Tech Talks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804" y="1819656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109508" y="1737360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viseu-tech-tal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4548" y="1828800"/>
            <a:ext cx="1183467" cy="8412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46668" y="2670048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Viseu Tech Talks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" y="3410711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48640" y="3328415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aws-user-group-por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4527" y="3419856"/>
            <a:ext cx="961770" cy="84124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" y="4261103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AWS User Group Porto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1370" y="3410711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329074" y="3328415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cloud-native-lisb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8320" y="3419856"/>
            <a:ext cx="1995054" cy="8412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66234" y="4261103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Cloud Native Lisbon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804" y="3410711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109508" y="3328415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cloud-native-port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7473" y="3419856"/>
            <a:ext cx="617616" cy="8412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46668" y="4261103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Cloud Native Porto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" y="5001768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48640" y="4919472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devops-brag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5589" y="5010912"/>
            <a:ext cx="1379646" cy="84124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5800" y="5852159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DevOps Braga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1370" y="5001768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329074" y="4919472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leaddev-meetup-lisb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4599" y="5010912"/>
            <a:ext cx="1682495" cy="8412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66234" y="5852159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LeadDev Meetup - Lisbon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1804" y="5001768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09508" y="4919472"/>
            <a:ext cx="3533546" cy="134416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devops-lisb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5700" y="5010912"/>
            <a:ext cx="1561162" cy="84124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46668" y="5852159"/>
            <a:ext cx="325922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b="1" i="0" sz="1200">
                <a:solidFill>
                  <a:srgbClr val="000000"/>
                </a:solidFill>
                <a:latin typeface="Montserrat"/>
              </a:rPr>
              <a:t>DevOps Lisbon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34198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0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2293239" cy="548640"/>
          </a:xfrm>
          <a:prstGeom prst="roundRect">
            <a:avLst>
              <a:gd name="adj" fmla="val 50000"/>
            </a:avLst>
          </a:prstGeom>
          <a:solidFill>
            <a:srgbClr val="30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7862" y="502920"/>
            <a:ext cx="203720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700">
                <a:solidFill>
                  <a:srgbClr val="FFFFFF"/>
                </a:solidFill>
                <a:latin typeface="Montserrat"/>
              </a:rPr>
              <a:t>KCD Porto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545336"/>
            <a:ext cx="7269480" cy="1965960"/>
          </a:xfrm>
          <a:prstGeom prst="roundRect">
            <a:avLst>
              <a:gd name="adj" fmla="val 9302"/>
            </a:avLst>
          </a:prstGeom>
          <a:solidFill>
            <a:srgbClr val="0A0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269480" cy="1965960"/>
          </a:xfrm>
          <a:prstGeom prst="roundRect">
            <a:avLst>
              <a:gd name="adj" fmla="val 9302"/>
            </a:avLst>
          </a:prstGeom>
          <a:solidFill>
            <a:srgbClr val="1715D7"/>
          </a:solidFill>
          <a:ln w="31750">
            <a:solidFill>
              <a:srgbClr val="0A0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kcd-porto-devopsda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90594"/>
            <a:ext cx="2926080" cy="1510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3359" y="16459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b="1" i="0" sz="1900">
                <a:solidFill>
                  <a:srgbClr val="FFFFFF"/>
                </a:solidFill>
                <a:latin typeface="Montserrat"/>
              </a:rPr>
              <a:t>KCD Porto x DevOps Days Portugal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63347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00">
                <a:solidFill>
                  <a:srgbClr val="FFFFFF"/>
                </a:solidFill>
                <a:latin typeface="Montserrat SemiBold"/>
              </a:rPr>
              <a:t>Nov 19-20 | Super Bock Arena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0175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BFD1E6"/>
                </a:solidFill>
                <a:latin typeface="Montserrat SemiBold"/>
              </a:rPr>
              <a:t>#Kubernetes Community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100" spc="150">
                <a:solidFill>
                  <a:srgbClr val="303080"/>
                </a:solidFill>
                <a:latin typeface="Montserrat"/>
              </a:rPr>
              <a:t>KEYNOTE SPEAKERS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3" y="4078224"/>
            <a:ext cx="1680210" cy="1680210"/>
          </a:xfrm>
          <a:prstGeom prst="roundRect">
            <a:avLst>
              <a:gd name="adj" fmla="val 6530"/>
            </a:avLst>
          </a:prstGeom>
          <a:solidFill>
            <a:srgbClr val="0A0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kcd-keynote-1-ea2517c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1680210" cy="16802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6594" y="4078224"/>
            <a:ext cx="1680210" cy="1680210"/>
          </a:xfrm>
          <a:prstGeom prst="roundRect">
            <a:avLst>
              <a:gd name="adj" fmla="val 6530"/>
            </a:avLst>
          </a:prstGeom>
          <a:solidFill>
            <a:srgbClr val="0A0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kcd-keynote-2-c085d572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30" y="4023360"/>
            <a:ext cx="1680210" cy="168021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329683" y="4078224"/>
            <a:ext cx="1680210" cy="1680210"/>
          </a:xfrm>
          <a:prstGeom prst="roundRect">
            <a:avLst>
              <a:gd name="adj" fmla="val 6530"/>
            </a:avLst>
          </a:prstGeom>
          <a:solidFill>
            <a:srgbClr val="0A0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kcd-keynote-3-48d6bd3c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820" y="4023360"/>
            <a:ext cx="1680210" cy="168021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2774" y="4078224"/>
            <a:ext cx="1680210" cy="1680210"/>
          </a:xfrm>
          <a:prstGeom prst="roundRect">
            <a:avLst>
              <a:gd name="adj" fmla="val 6530"/>
            </a:avLst>
          </a:prstGeom>
          <a:solidFill>
            <a:srgbClr val="0A0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kcd-keynote-4-55e78593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910" y="4023360"/>
            <a:ext cx="1680210" cy="168021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174736" y="1545336"/>
            <a:ext cx="3550615" cy="4240530"/>
          </a:xfrm>
          <a:prstGeom prst="roundRect">
            <a:avLst>
              <a:gd name="adj" fmla="val 5150"/>
            </a:avLst>
          </a:prstGeom>
          <a:solidFill>
            <a:srgbClr val="0A0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092440" y="1463040"/>
            <a:ext cx="3550615" cy="424053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31750">
            <a:solidFill>
              <a:srgbClr val="0A0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kcd-site.png">
            <a:hlinkClick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6187" y="1627632"/>
            <a:ext cx="2103120" cy="2103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0" y="3767328"/>
            <a:ext cx="3276295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250">
                <a:solidFill>
                  <a:srgbClr val="0A0A43"/>
                </a:solidFill>
                <a:latin typeface="Montserrat"/>
              </a:rPr>
              <a:t>Scan for tickets &amp;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27629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2500">
                <a:solidFill>
                  <a:srgbClr val="303080"/>
                </a:solidFill>
                <a:latin typeface="Montserrat"/>
              </a:rPr>
              <a:t>10% discount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0288"/>
            <a:ext cx="327629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000" spc="120">
                <a:solidFill>
                  <a:srgbClr val="5B5A9C"/>
                </a:solidFill>
                <a:latin typeface="Montserrat"/>
              </a:rPr>
              <a:t>USE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901184"/>
            <a:ext cx="3093415" cy="512064"/>
          </a:xfrm>
          <a:prstGeom prst="roundRect">
            <a:avLst>
              <a:gd name="adj" fmla="val 50000"/>
            </a:avLst>
          </a:prstGeom>
          <a:solidFill>
            <a:srgbClr val="171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1040" y="4901184"/>
            <a:ext cx="3093415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600">
                <a:solidFill>
                  <a:srgbClr val="FFFFFF"/>
                </a:solidFill>
                <a:latin typeface="Montserrat"/>
              </a:rPr>
              <a:t>cnpdevopsdiscount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0A0A43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0A0A43"/>
                </a:solidFill>
                <a:latin typeface="Montserrat SemiBold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talk-panel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0"/>
            <a:ext cx="9372600" cy="544639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936345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60120" y="1097280"/>
            <a:ext cx="1715389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39342" y="1097280"/>
            <a:ext cx="145935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500">
                <a:solidFill>
                  <a:srgbClr val="FFFFFF"/>
                </a:solidFill>
                <a:latin typeface="Montserrat"/>
              </a:rPr>
              <a:t>Talk with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5486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b="1" i="0" sz="3200">
                <a:solidFill>
                  <a:srgbClr val="000000"/>
                </a:solidFill>
                <a:latin typeface="Montserrat"/>
              </a:rPr>
              <a:t>Being community-driven is part of our DNA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6" y="3099815"/>
            <a:ext cx="1783080" cy="1783080"/>
          </a:xfrm>
          <a:prstGeom prst="roundRect">
            <a:avLst>
              <a:gd name="adj" fmla="val 1025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60120" y="3017520"/>
            <a:ext cx="178308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alk-with-us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08960"/>
            <a:ext cx="1600200" cy="1600200"/>
          </a:xfrm>
          <a:prstGeom prst="rect">
            <a:avLst/>
          </a:prstGeom>
        </p:spPr>
      </p:pic>
      <p:pic>
        <p:nvPicPr>
          <p:cNvPr id="11" name="Picture 10" descr="micro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182" y="3182112"/>
            <a:ext cx="345043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85032" y="3136392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50">
                <a:solidFill>
                  <a:srgbClr val="000000"/>
                </a:solidFill>
                <a:latin typeface="Montserrat SemiBold"/>
              </a:rPr>
              <a:t>Call for Collaboration</a:t>
            </a:r>
          </a:p>
        </p:txBody>
      </p:sp>
      <p:pic>
        <p:nvPicPr>
          <p:cNvPr id="13" name="Picture 12" descr="s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3712463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85032" y="3666744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50">
                <a:solidFill>
                  <a:srgbClr val="000000"/>
                </a:solidFill>
                <a:latin typeface="Montserrat SemiBold"/>
              </a:rPr>
              <a:t>Slack channels</a:t>
            </a:r>
          </a:p>
        </p:txBody>
      </p:sp>
      <p:pic>
        <p:nvPicPr>
          <p:cNvPr id="15" name="Picture 14" descr="meet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4680" y="424281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85032" y="4197096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50">
                <a:solidFill>
                  <a:srgbClr val="000000"/>
                </a:solidFill>
                <a:latin typeface="Montserrat SemiBold"/>
              </a:rPr>
              <a:t>Meetup Groups</a:t>
            </a:r>
          </a:p>
        </p:txBody>
      </p:sp>
      <p:pic>
        <p:nvPicPr>
          <p:cNvPr id="17" name="Picture 16" descr="community-peo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560825"/>
            <a:ext cx="5532120" cy="30505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4681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250">
                <a:solidFill>
                  <a:srgbClr val="000000"/>
                </a:solidFill>
                <a:latin typeface="Montserrat"/>
              </a:rPr>
              <a:t>xgeeks.com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33872"/>
            <a:ext cx="1551305" cy="4206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yout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5953028"/>
            <a:ext cx="237744" cy="1823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5833872"/>
            <a:ext cx="95694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000000"/>
                </a:solidFill>
                <a:latin typeface="Montserrat Medium"/>
              </a:rPr>
              <a:t>xgeeksio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2825" y="5833872"/>
            <a:ext cx="1573530" cy="4206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nstagr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9030" y="5934456"/>
            <a:ext cx="216228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785744" y="5833872"/>
            <a:ext cx="97917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000000"/>
                </a:solidFill>
                <a:latin typeface="Montserrat Medium"/>
              </a:rPr>
              <a:t>@xgeeks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9235" y="5833872"/>
            <a:ext cx="1414779" cy="4206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linked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4472" y="5934456"/>
            <a:ext cx="218165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42155" y="5833872"/>
            <a:ext cx="82041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000000"/>
                </a:solidFill>
                <a:latin typeface="Montserrat Medium"/>
              </a:rPr>
              <a:t>xgeeks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6895" y="5833872"/>
            <a:ext cx="1551305" cy="4206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x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1486" y="5934456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39814" y="5833872"/>
            <a:ext cx="95694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">
                <a:solidFill>
                  <a:srgbClr val="000000"/>
                </a:solidFill>
                <a:latin typeface="Montserrat Medium"/>
              </a:rPr>
              <a:t>xgeeksio</a:t>
            </a:r>
          </a:p>
        </p:txBody>
      </p:sp>
      <p:pic>
        <p:nvPicPr>
          <p:cNvPr id="31" name="Picture 30" descr="synvert-xgeeks-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5543804"/>
            <a:ext cx="1600200" cy="66243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ai-gradi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82296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b="1" i="0" sz="4600">
                <a:solidFill>
                  <a:srgbClr val="000000"/>
                </a:solidFill>
                <a:latin typeface="Montserrat"/>
              </a:rPr>
              <a:t>Thanks again to our meetup sponsors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60623" y="3054096"/>
            <a:ext cx="6035040" cy="2514600"/>
          </a:xfrm>
          <a:prstGeom prst="roundRect">
            <a:avLst>
              <a:gd name="adj" fmla="val 727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078327" y="2971800"/>
            <a:ext cx="6035040" cy="25146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risk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47" y="3801618"/>
            <a:ext cx="5029200" cy="8549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Lisbon GenAI Community · #16 meetup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1000">
                <a:solidFill>
                  <a:srgbClr val="111111"/>
                </a:solidFill>
                <a:latin typeface="Montserrat SemiBold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